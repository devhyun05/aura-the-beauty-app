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8cadfffe7469d" /><Relationship Type="http://schemas.openxmlformats.org/officeDocument/2006/relationships/extended-properties" Target="/docProps/app.xml" Id="R7687527adc48425b" /><Relationship Type="http://schemas.openxmlformats.org/officeDocument/2006/relationships/officeDocument" Target="/ppt/presentation.xml" Id="Rc1807a14507949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997466646d4235"/>
  </p:sldMasterIdLst>
  <p:notesMasterIdLst>
    <p:notesMasterId xmlns:r="http://schemas.openxmlformats.org/officeDocument/2006/relationships" r:id="R84c629027deb4d79"/>
  </p:notesMasterIdLst>
  <p:sldIdLst>
    <p:sldId xmlns:r="http://schemas.openxmlformats.org/officeDocument/2006/relationships" id="256" r:id="Rd70ba052eedd4c11"/>
    <p:sldId xmlns:r="http://schemas.openxmlformats.org/officeDocument/2006/relationships" id="257" r:id="R762e7a98612c45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9d40e7be904c0d" /><Relationship Type="http://schemas.openxmlformats.org/officeDocument/2006/relationships/slideMaster" Target="/ppt/slideMasters/slideMaster1.xml" Id="Rf1997466646d4235" /><Relationship Type="http://schemas.openxmlformats.org/officeDocument/2006/relationships/notesMaster" Target="/ppt/notesMasters/notesMaster1.xml" Id="R84c629027deb4d79" /><Relationship Type="http://schemas.openxmlformats.org/officeDocument/2006/relationships/presProps" Target="/ppt/presProps.xml" Id="Rec9b85451ec14e00" /><Relationship Type="http://schemas.openxmlformats.org/officeDocument/2006/relationships/tableStyles" Target="/ppt/tableStyles.xml" Id="Rf965a542d5d743e8" /><Relationship Type="http://schemas.openxmlformats.org/officeDocument/2006/relationships/slide" Target="/ppt/slides/slide1.xml" Id="Rd70ba052eedd4c11" /><Relationship Type="http://schemas.openxmlformats.org/officeDocument/2006/relationships/slide" Target="/ppt/slides/slide2.xml" Id="R762e7a98612c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a0f86272814f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49f5b265e431f" /><Relationship Type="http://schemas.openxmlformats.org/officeDocument/2006/relationships/notesMaster" Target="/ppt/notesMasters/notesMaster1.xml" Id="R2bdbee5c05df45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8f8445b3a640b8" /><Relationship Type="http://schemas.openxmlformats.org/officeDocument/2006/relationships/notesMaster" Target="/ppt/notesMasters/notesMaster1.xml" Id="R6fa3e35ea08c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자연스러움을 깨는 원인은 하나가 아니라 시각, 경계, 명암의 세 오차입니다.</a:t>
            </a:r>
          </a:p>
          <a:p xmlns:a="http://schemas.openxmlformats.org/drawingml/2006/main">
            <a:r>
              <a:t>세 보정을 같은 프레임에서 적용해야 밀림, 번짐, 평면감을 함께 줄일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/Users/yeoduchi/302-group5-final-project/docs/unity-ar/glam2-refs/ours-glam-fullface.png</a:t>
            </a:r>
          </a:p>
          <a:p xmlns:a="http://schemas.openxmlformats.org/drawingml/2006/main">
            <a:r>
              <a:t>- /var/folders/bl/w00rm3lj0wsfm0l8t26rkd980000gn/T/TemporaryItems/NSIRD_screencaptureui_8rfjM6/스크린샷 2026-07-25 오전 1.48.05.png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입술 전후에서는 단색을 덮는 방식과 원본 명암을 살리는 방식의 차이를 보여줍니다.</a:t>
            </a:r>
          </a:p>
          <a:p xmlns:a="http://schemas.openxmlformats.org/drawingml/2006/main">
            <a:r>
              <a:t>세 보정이 합쳐진 최종 얼굴에서는 움직임, 경계, 입체감이 함께 유지됩니다.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/Users/yeoduchi/302-group5-final-project/docs/unity-ar/glam2-refs/captures/0721-baseline-lips.png</a:t>
            </a:r>
          </a:p>
          <a:p xmlns:a="http://schemas.openxmlformats.org/drawingml/2006/main">
            <a:r>
              <a:t>- /private/tmp/codex-ar-rendering-slides-creative-v2/lip-result-crop.png</a:t>
            </a:r>
          </a:p>
          <a:p xmlns:a="http://schemas.openxmlformats.org/drawingml/2006/main">
            <a:r>
              <a:t>- /private/tmp/codex-ar-rendering-slides-creative-v2/final-face-crop.png</a:t>
            </a:r>
          </a:p>
          <a:p xmlns:a="http://schemas.openxmlformats.org/drawingml/2006/main">
            <a:r>
              <a:t>- /var/folders/bl/w00rm3lj0wsfm0l8t26rkd980000gn/T/TemporaryItems/NSIRD_screencaptureui_8rfjM6/스크린샷 2026-07-25 오전 1.48.05.png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b4c3ba58f42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34e99d30848af" /><Relationship Type="http://schemas.openxmlformats.org/officeDocument/2006/relationships/slideLayout" Target="/ppt/slideLayouts/slideLayout1.xml" Id="Rcc95224ac1844f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95224ac1844f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bb9450c0b49a6" /><Relationship Type="http://schemas.openxmlformats.org/officeDocument/2006/relationships/image" Target="/ppt/media/image.png" Id="Rd87638ddd65b4fad" /><Relationship Type="http://schemas.openxmlformats.org/officeDocument/2006/relationships/notesSlide" Target="/ppt/notesSlides/notesSlide1.xml" Id="Re5b067f3e7af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fe4591d8e4a02" /><Relationship Type="http://schemas.openxmlformats.org/officeDocument/2006/relationships/image" Target="/ppt/media/image2.png" Id="R8c0398911401495b" /><Relationship Type="http://schemas.openxmlformats.org/officeDocument/2006/relationships/image" Target="/ppt/media/image3.png" Id="R05826044fcc94380" /><Relationship Type="http://schemas.openxmlformats.org/officeDocument/2006/relationships/image" Target="/ppt/media/image4.png" Id="R3e7e7f0ad40d46cd" /><Relationship Type="http://schemas.openxmlformats.org/officeDocument/2006/relationships/notesSlide" Target="/ppt/notesSlides/notesSlide2.xml" Id="R3c0a75eb53894b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1">
            <a:extLst xmlns:a="http://schemas.openxmlformats.org/drawingml/2006/main">
              <a:ext uri="{FF2B5EF4-FFF2-40B4-BE49-F238E27FC236}">
                <a16:creationId xmlns:a16="http://schemas.microsoft.com/office/drawing/2014/main" id="{830B6831-20E3-4489-AB63-BBDFE78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TECHNICAL CHALLENGE  ·  AR MAKEUP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6AE2D52F-B1FC-47EE-94AE-6718A6D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103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1 / 2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0B684A3E-DE80-485B-8718-9C4FD2D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자연스러움은 세 오차가 같은 순간에 맞을 때 생깁니다</a:t>
            </a:r>
          </a:p>
        </p:txBody>
      </p:sp>
      <p:sp>
        <p:nvSpPr>
          <p:cNvPr id="4" name="s1-subtitle">
            <a:extLst xmlns:a="http://schemas.openxmlformats.org/drawingml/2006/main">
              <a:ext uri="{FF2B5EF4-FFF2-40B4-BE49-F238E27FC236}">
                <a16:creationId xmlns:a16="http://schemas.microsoft.com/office/drawing/2014/main" id="{10695B51-F2ED-4FE2-A24B-0150E821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rPr>
              <a:t>움직임의 시각, 입술의 실제 경계, 원본의 명암 구조를 한 프레임 안에서 함께 보정했습니다.</a:t>
            </a:r>
          </a:p>
        </p:txBody>
      </p:sp>
      <p:sp>
        <p:nvSpPr>
          <p:cNvPr id="5" name="s1-image-shadow">
            <a:extLst xmlns:a="http://schemas.openxmlformats.org/drawingml/2006/main">
              <a:ext uri="{FF2B5EF4-FFF2-40B4-BE49-F238E27FC236}">
                <a16:creationId xmlns:a16="http://schemas.microsoft.com/office/drawing/2014/main" id="{EF9BB40A-E6D4-4EE1-97CB-343BBAE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600450" cy="3657600"/>
          </a:xfrm>
          <a:prstGeom xmlns:a="http://schemas.openxmlformats.org/drawingml/2006/main" prst="roundRect">
            <a:avLst>
              <a:gd name="adj" fmla="val 5820"/>
            </a:avLst>
          </a:prstGeom>
          <a:solidFill xmlns:a="http://schemas.openxmlformats.org/drawingml/2006/main">
            <a:srgbClr val="E3F1E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638ddd65b4fad"/>
          <a:srcRect xmlns:a="http://schemas.openxmlformats.org/drawingml/2006/main" l="0" t="26571" r="0" b="26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43100"/>
            <a:ext cx="3600450" cy="36576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7" name="s1-fullface-outline">
            <a:extLst xmlns:a="http://schemas.openxmlformats.org/drawingml/2006/main">
              <a:ext uri="{FF2B5EF4-FFF2-40B4-BE49-F238E27FC236}">
                <a16:creationId xmlns:a16="http://schemas.microsoft.com/office/drawing/2014/main" id="{C357694F-969B-443A-B83F-2717883D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600450" cy="36576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5D9D6"/>
            </a:solidFill>
            <a:prstDash val="solid"/>
          </a:ln>
        </p:spPr>
      </p:sp>
      <p:sp>
        <p:nvSpPr>
          <p:cNvPr id="8" name="s1-image-caption">
            <a:extLst xmlns:a="http://schemas.openxmlformats.org/drawingml/2006/main">
              <a:ext uri="{FF2B5EF4-FFF2-40B4-BE49-F238E27FC236}">
                <a16:creationId xmlns:a16="http://schemas.microsoft.com/office/drawing/2014/main" id="{8BF48314-896D-4188-B3C5-A57C5D9D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3600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실시간 얼굴 · 랜드마크 · 메이크업</a:t>
            </a:r>
          </a:p>
        </p:txBody>
      </p:sp>
      <p:sp>
        <p:nvSpPr>
          <p:cNvPr id="9" name="s1-callout-a-0">
            <a:extLst xmlns:a="http://schemas.openxmlformats.org/drawingml/2006/main">
              <a:ext uri="{FF2B5EF4-FFF2-40B4-BE49-F238E27FC236}">
                <a16:creationId xmlns:a16="http://schemas.microsoft.com/office/drawing/2014/main" id="{3E129F51-4B84-47E8-B763-EE1BDB3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09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EB5"/>
            </a:solidFill>
            <a:prstDash val="solid"/>
          </a:ln>
        </p:spPr>
      </p:sp>
      <p:sp>
        <p:nvSpPr>
          <p:cNvPr id="10" name="s1-callout-b-0">
            <a:extLst xmlns:a="http://schemas.openxmlformats.org/drawingml/2006/main">
              <a:ext uri="{FF2B5EF4-FFF2-40B4-BE49-F238E27FC236}">
                <a16:creationId xmlns:a16="http://schemas.microsoft.com/office/drawing/2014/main" id="{88E943C3-BA7C-4450-B6DA-FEA7E8E0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479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EB5"/>
            </a:solidFill>
            <a:prstDash val="solid"/>
          </a:ln>
        </p:spPr>
      </p:sp>
      <p:sp>
        <p:nvSpPr>
          <p:cNvPr id="11" name="s1-callout-c-0">
            <a:extLst xmlns:a="http://schemas.openxmlformats.org/drawingml/2006/main">
              <a:ext uri="{FF2B5EF4-FFF2-40B4-BE49-F238E27FC236}">
                <a16:creationId xmlns:a16="http://schemas.microsoft.com/office/drawing/2014/main" id="{2EA7AA66-FB31-4F5F-8205-1C9E68D4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479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EB5"/>
            </a:solidFill>
            <a:prstDash val="solid"/>
          </a:ln>
        </p:spPr>
      </p:sp>
      <p:sp>
        <p:nvSpPr>
          <p:cNvPr id="12" name="s1-callout-a-1">
            <a:extLst xmlns:a="http://schemas.openxmlformats.org/drawingml/2006/main">
              <a:ext uri="{FF2B5EF4-FFF2-40B4-BE49-F238E27FC236}">
                <a16:creationId xmlns:a16="http://schemas.microsoft.com/office/drawing/2014/main" id="{5079B438-29A4-4ECF-BDEF-588E235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362"/>
            </a:solidFill>
            <a:prstDash val="solid"/>
          </a:ln>
        </p:spPr>
      </p:sp>
      <p:sp>
        <p:nvSpPr>
          <p:cNvPr id="13" name="s1-callout-b-1">
            <a:extLst xmlns:a="http://schemas.openxmlformats.org/drawingml/2006/main">
              <a:ext uri="{FF2B5EF4-FFF2-40B4-BE49-F238E27FC236}">
                <a16:creationId xmlns:a16="http://schemas.microsoft.com/office/drawing/2014/main" id="{413CB3EF-70A1-41CF-B0CF-A66C493B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861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362"/>
            </a:solidFill>
            <a:prstDash val="solid"/>
          </a:ln>
        </p:spPr>
      </p:sp>
      <p:sp>
        <p:nvSpPr>
          <p:cNvPr id="14" name="s1-callout-c-1">
            <a:extLst xmlns:a="http://schemas.openxmlformats.org/drawingml/2006/main">
              <a:ext uri="{FF2B5EF4-FFF2-40B4-BE49-F238E27FC236}">
                <a16:creationId xmlns:a16="http://schemas.microsoft.com/office/drawing/2014/main" id="{9709BCBE-119B-476C-8F94-7555D17D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861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362"/>
            </a:solidFill>
            <a:prstDash val="solid"/>
          </a:ln>
        </p:spPr>
      </p:sp>
      <p:sp>
        <p:nvSpPr>
          <p:cNvPr id="15" name="s1-callout-a-2">
            <a:extLst xmlns:a="http://schemas.openxmlformats.org/drawingml/2006/main">
              <a:ext uri="{FF2B5EF4-FFF2-40B4-BE49-F238E27FC236}">
                <a16:creationId xmlns:a16="http://schemas.microsoft.com/office/drawing/2014/main" id="{4B021167-CCCE-4B49-ABCF-8EDCF15D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863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3E62"/>
            </a:solidFill>
            <a:prstDash val="solid"/>
          </a:ln>
        </p:spPr>
      </p:sp>
      <p:sp>
        <p:nvSpPr>
          <p:cNvPr id="16" name="s1-callout-b-2">
            <a:extLst xmlns:a="http://schemas.openxmlformats.org/drawingml/2006/main">
              <a:ext uri="{FF2B5EF4-FFF2-40B4-BE49-F238E27FC236}">
                <a16:creationId xmlns:a16="http://schemas.microsoft.com/office/drawing/2014/main" id="{E732EA7D-627B-4159-86C6-9F3F2138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244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3E62"/>
            </a:solidFill>
            <a:prstDash val="solid"/>
          </a:ln>
        </p:spPr>
      </p:sp>
      <p:sp>
        <p:nvSpPr>
          <p:cNvPr id="17" name="s1-callout-c-2">
            <a:extLst xmlns:a="http://schemas.openxmlformats.org/drawingml/2006/main">
              <a:ext uri="{FF2B5EF4-FFF2-40B4-BE49-F238E27FC236}">
                <a16:creationId xmlns:a16="http://schemas.microsoft.com/office/drawing/2014/main" id="{5D220283-9FEE-4653-BC74-12DE25A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244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3E62"/>
            </a:solidFill>
            <a:prstDash val="solid"/>
          </a:ln>
        </p:spPr>
      </p:sp>
      <p:sp>
        <p:nvSpPr>
          <p:cNvPr id="18" name="s1-anchor-0">
            <a:extLst xmlns:a="http://schemas.openxmlformats.org/drawingml/2006/main">
              <a:ext uri="{FF2B5EF4-FFF2-40B4-BE49-F238E27FC236}">
                <a16:creationId xmlns:a16="http://schemas.microsoft.com/office/drawing/2014/main" id="{682AFEE2-C81A-4323-9904-0EEF9311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-num-bg-0">
            <a:extLst xmlns:a="http://schemas.openxmlformats.org/drawingml/2006/main">
              <a:ext uri="{FF2B5EF4-FFF2-40B4-BE49-F238E27FC236}">
                <a16:creationId xmlns:a16="http://schemas.microsoft.com/office/drawing/2014/main" id="{16448F5B-A154-4EF1-BEFE-2C89E4A8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-num-0">
            <a:extLst xmlns:a="http://schemas.openxmlformats.org/drawingml/2006/main">
              <a:ext uri="{FF2B5EF4-FFF2-40B4-BE49-F238E27FC236}">
                <a16:creationId xmlns:a16="http://schemas.microsoft.com/office/drawing/2014/main" id="{A76E2DA7-ACB1-45EE-8C00-9B3AB20F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1" name="s1-label-0">
            <a:extLst xmlns:a="http://schemas.openxmlformats.org/drawingml/2006/main">
              <a:ext uri="{FF2B5EF4-FFF2-40B4-BE49-F238E27FC236}">
                <a16:creationId xmlns:a16="http://schemas.microsoft.com/office/drawing/2014/main" id="{28D7246D-79B1-4368-A2E7-C81ACE11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05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rPr>
              <a:t>움직임·잔상</a:t>
            </a:r>
          </a:p>
        </p:txBody>
      </p:sp>
      <p:sp>
        <p:nvSpPr>
          <p:cNvPr id="22" name="s1-callout-title-0">
            <a:extLst xmlns:a="http://schemas.openxmlformats.org/drawingml/2006/main">
              <a:ext uri="{FF2B5EF4-FFF2-40B4-BE49-F238E27FC236}">
                <a16:creationId xmlns:a16="http://schemas.microsoft.com/office/drawing/2014/main" id="{E2C9F2AB-CEC8-459F-BAEC-731976A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622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화면과 좌표의 촬영 시각을 맞춘다</a:t>
            </a:r>
          </a:p>
        </p:txBody>
      </p:sp>
      <p:sp>
        <p:nvSpPr>
          <p:cNvPr id="23" name="s1-callout-body-0">
            <a:extLst xmlns:a="http://schemas.openxmlformats.org/drawingml/2006/main">
              <a:ext uri="{FF2B5EF4-FFF2-40B4-BE49-F238E27FC236}">
                <a16:creationId xmlns:a16="http://schemas.microsoft.com/office/drawing/2014/main" id="{CB4CD36A-3635-4A33-BF5B-EB5A601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432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rPr>
              <a:t>같은 시각의 화면·좌표를 선택하고, 중간 위치를 보간해 급격한 변화를 완화</a:t>
            </a:r>
          </a:p>
        </p:txBody>
      </p:sp>
      <p:sp>
        <p:nvSpPr>
          <p:cNvPr id="24" name="s1-callout-rule-0">
            <a:extLst xmlns:a="http://schemas.openxmlformats.org/drawingml/2006/main">
              <a:ext uri="{FF2B5EF4-FFF2-40B4-BE49-F238E27FC236}">
                <a16:creationId xmlns:a16="http://schemas.microsoft.com/office/drawing/2014/main" id="{0E039A6D-2033-4BD6-BB62-8D3685D7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90875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EE1DF"/>
            </a:solidFill>
            <a:prstDash val="solid"/>
          </a:ln>
        </p:spPr>
      </p:sp>
      <p:sp>
        <p:nvSpPr>
          <p:cNvPr id="25" name="s1-anchor-1">
            <a:extLst xmlns:a="http://schemas.openxmlformats.org/drawingml/2006/main">
              <a:ext uri="{FF2B5EF4-FFF2-40B4-BE49-F238E27FC236}">
                <a16:creationId xmlns:a16="http://schemas.microsoft.com/office/drawing/2014/main" id="{8284ECE0-F467-443E-A683-3ABDDA68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-num-bg-1">
            <a:extLst xmlns:a="http://schemas.openxmlformats.org/drawingml/2006/main">
              <a:ext uri="{FF2B5EF4-FFF2-40B4-BE49-F238E27FC236}">
                <a16:creationId xmlns:a16="http://schemas.microsoft.com/office/drawing/2014/main" id="{7F64A3BA-8181-414C-80BC-CA3A2114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-num-1">
            <a:extLst xmlns:a="http://schemas.openxmlformats.org/drawingml/2006/main">
              <a:ext uri="{FF2B5EF4-FFF2-40B4-BE49-F238E27FC236}">
                <a16:creationId xmlns:a16="http://schemas.microsoft.com/office/drawing/2014/main" id="{5F22503D-9477-4394-9284-A6CC32F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57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8" name="s1-label-1">
            <a:extLst xmlns:a="http://schemas.openxmlformats.org/drawingml/2006/main">
              <a:ext uri="{FF2B5EF4-FFF2-40B4-BE49-F238E27FC236}">
                <a16:creationId xmlns:a16="http://schemas.microsoft.com/office/drawing/2014/main" id="{3A9A08A9-2B14-4081-B943-B2911489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432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rPr>
              <a:t>입술 경계</a:t>
            </a:r>
          </a:p>
        </p:txBody>
      </p:sp>
      <p:sp>
        <p:nvSpPr>
          <p:cNvPr id="29" name="s1-callout-title-1">
            <a:extLst xmlns:a="http://schemas.openxmlformats.org/drawingml/2006/main">
              <a:ext uri="{FF2B5EF4-FFF2-40B4-BE49-F238E27FC236}">
                <a16:creationId xmlns:a16="http://schemas.microsoft.com/office/drawing/2014/main" id="{2BC8BD02-6117-4CC1-8ED4-8EC52AA0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0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기준점 너머 실제 입술 끝선을 찾는다</a:t>
            </a:r>
          </a:p>
        </p:txBody>
      </p:sp>
      <p:sp>
        <p:nvSpPr>
          <p:cNvPr id="30" name="s1-callout-body-1">
            <a:extLst xmlns:a="http://schemas.openxmlformats.org/drawingml/2006/main">
              <a:ext uri="{FF2B5EF4-FFF2-40B4-BE49-F238E27FC236}">
                <a16:creationId xmlns:a16="http://schemas.microsoft.com/office/drawing/2014/main" id="{55F7AF88-2ACC-4F19-836B-CA3D16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8145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rPr>
              <a:t>기본 형태를 잡은 뒤 약 120방향으로 경계를 재탐색하고 입 안 영역은 제외</a:t>
            </a:r>
          </a:p>
        </p:txBody>
      </p:sp>
      <p:sp>
        <p:nvSpPr>
          <p:cNvPr id="31" name="s1-callout-rule-1">
            <a:extLst xmlns:a="http://schemas.openxmlformats.org/drawingml/2006/main">
              <a:ext uri="{FF2B5EF4-FFF2-40B4-BE49-F238E27FC236}">
                <a16:creationId xmlns:a16="http://schemas.microsoft.com/office/drawing/2014/main" id="{057F1AC6-A8A1-497B-951A-FC8CF677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29125"/>
            <a:ext cx="605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EE1DF"/>
            </a:solidFill>
            <a:prstDash val="solid"/>
          </a:ln>
        </p:spPr>
      </p:sp>
      <p:sp>
        <p:nvSpPr>
          <p:cNvPr id="32" name="s1-anchor-2">
            <a:extLst xmlns:a="http://schemas.openxmlformats.org/drawingml/2006/main">
              <a:ext uri="{FF2B5EF4-FFF2-40B4-BE49-F238E27FC236}">
                <a16:creationId xmlns:a16="http://schemas.microsoft.com/office/drawing/2014/main" id="{6BC3A1D7-F761-4B52-87C1-984E1894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29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E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-num-bg-2">
            <a:extLst xmlns:a="http://schemas.openxmlformats.org/drawingml/2006/main">
              <a:ext uri="{FF2B5EF4-FFF2-40B4-BE49-F238E27FC236}">
                <a16:creationId xmlns:a16="http://schemas.microsoft.com/office/drawing/2014/main" id="{6EC94EBC-2CF6-43EE-8C93-C299EAA6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72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1-num-2">
            <a:extLst xmlns:a="http://schemas.openxmlformats.org/drawingml/2006/main">
              <a:ext uri="{FF2B5EF4-FFF2-40B4-BE49-F238E27FC236}">
                <a16:creationId xmlns:a16="http://schemas.microsoft.com/office/drawing/2014/main" id="{3FAC4F86-5984-4FE1-BBEA-357BB7CE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5" name="s1-label-2">
            <a:extLst xmlns:a="http://schemas.openxmlformats.org/drawingml/2006/main">
              <a:ext uri="{FF2B5EF4-FFF2-40B4-BE49-F238E27FC236}">
                <a16:creationId xmlns:a16="http://schemas.microsoft.com/office/drawing/2014/main" id="{34AA89D2-8933-4FC6-94B9-ED7B3664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815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rPr>
              <a:t>색·질감</a:t>
            </a:r>
          </a:p>
        </p:txBody>
      </p:sp>
      <p:sp>
        <p:nvSpPr>
          <p:cNvPr id="36" name="s1-callout-title-2">
            <a:extLst xmlns:a="http://schemas.openxmlformats.org/drawingml/2006/main">
              <a:ext uri="{FF2B5EF4-FFF2-40B4-BE49-F238E27FC236}">
                <a16:creationId xmlns:a16="http://schemas.microsoft.com/office/drawing/2014/main" id="{F6BD9862-A871-427D-97D4-A56653B3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38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색을 덮지 않고 원본 명암을 남긴다</a:t>
            </a:r>
          </a:p>
        </p:txBody>
      </p:sp>
      <p:sp>
        <p:nvSpPr>
          <p:cNvPr id="37" name="s1-callout-body-2">
            <a:extLst xmlns:a="http://schemas.openxmlformats.org/drawingml/2006/main">
              <a:ext uri="{FF2B5EF4-FFF2-40B4-BE49-F238E27FC236}">
                <a16:creationId xmlns:a16="http://schemas.microsoft.com/office/drawing/2014/main" id="{8F034FED-31CB-455D-B18E-DD893CE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539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rPr>
              <a:t>원본 밝기·주름·광택을 선택한 립 컬러에 반영하고 경계만 부드럽게 처리</a:t>
            </a:r>
          </a:p>
        </p:txBody>
      </p:sp>
      <p:sp>
        <p:nvSpPr>
          <p:cNvPr id="38" name="s1-conclusion-line">
            <a:extLst xmlns:a="http://schemas.openxmlformats.org/drawingml/2006/main">
              <a:ext uri="{FF2B5EF4-FFF2-40B4-BE49-F238E27FC236}">
                <a16:creationId xmlns:a16="http://schemas.microsoft.com/office/drawing/2014/main" id="{6197A77D-197E-4A3B-A85C-FF822397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26A24"/>
            </a:solidFill>
            <a:prstDash val="solid"/>
          </a:ln>
        </p:spPr>
      </p:sp>
      <p:sp>
        <p:nvSpPr>
          <p:cNvPr id="39" name="s1-conclusion-key">
            <a:extLst xmlns:a="http://schemas.openxmlformats.org/drawingml/2006/main">
              <a:ext uri="{FF2B5EF4-FFF2-40B4-BE49-F238E27FC236}">
                <a16:creationId xmlns:a16="http://schemas.microsoft.com/office/drawing/2014/main" id="{25D45010-BCD0-4ADF-A094-591DC231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같은 시각  ×  실제 경계  ×  원본 명암</a:t>
            </a:r>
          </a:p>
        </p:txBody>
      </p:sp>
      <p:sp>
        <p:nvSpPr>
          <p:cNvPr id="40" name="s1-conclusion-body">
            <a:extLst xmlns:a="http://schemas.openxmlformats.org/drawingml/2006/main">
              <a:ext uri="{FF2B5EF4-FFF2-40B4-BE49-F238E27FC236}">
                <a16:creationId xmlns:a16="http://schemas.microsoft.com/office/drawing/2014/main" id="{0CB11243-5BF3-44F8-8AAF-E4575FC6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34365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세 조건이 함께 맞아야 화장이 얼굴에 붙어 보입니다.</a:t>
            </a:r>
          </a:p>
        </p:txBody>
      </p:sp>
    </p:spTree>
    <p:extLst>
      <p:ext uri="{BB962C8B-B14F-4D97-AF65-F5344CB8AC3E}">
        <p14:creationId xmlns:p14="http://schemas.microsoft.com/office/powerpoint/2010/main" val="45743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2">
            <a:extLst xmlns:a="http://schemas.openxmlformats.org/drawingml/2006/main">
              <a:ext uri="{FF2B5EF4-FFF2-40B4-BE49-F238E27FC236}">
                <a16:creationId xmlns:a16="http://schemas.microsoft.com/office/drawing/2014/main" id="{2EFB477D-CF2D-4B29-9259-FA36D96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RESULT  ·  NATURALNESS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F7AEF92-91B8-40F4-86B3-6F2A6ADE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10350"/>
            <a:ext cx="723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2 / 2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CD1D790C-EBA9-4813-A9E8-1DD448E8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세 보정이 합쳐지자 화장이 얼굴에 붙었습니다</a:t>
            </a:r>
          </a:p>
        </p:txBody>
      </p:sp>
      <p:sp>
        <p:nvSpPr>
          <p:cNvPr id="4" name="s2-subtitle">
            <a:extLst xmlns:a="http://schemas.openxmlformats.org/drawingml/2006/main">
              <a:ext uri="{FF2B5EF4-FFF2-40B4-BE49-F238E27FC236}">
                <a16:creationId xmlns:a16="http://schemas.microsoft.com/office/drawing/2014/main" id="{62C3C731-AE95-4025-951D-B358ECFB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15861"/>
                </a:solidFill>
                <a:latin typeface="Apple SD Gothic Neo"/>
                <a:ea typeface="Apple SD Gothic Neo"/>
                <a:cs typeface="Apple SD Gothic Neo"/>
              </a:rPr>
              <a:t>립 컬러의 명암을 되살리고, 그 결과를 실시간 얼굴 위에서 안정적으로 유지했습니다.</a:t>
            </a:r>
          </a:p>
        </p:txBody>
      </p:sp>
      <p:sp>
        <p:nvSpPr>
          <p:cNvPr id="5" name="s2-before-kicker">
            <a:extLst xmlns:a="http://schemas.openxmlformats.org/drawingml/2006/main">
              <a:ext uri="{FF2B5EF4-FFF2-40B4-BE49-F238E27FC236}">
                <a16:creationId xmlns:a16="http://schemas.microsoft.com/office/drawing/2014/main" id="{83C8D5C3-8BF6-40A3-8D32-3BB9380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44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B54455"/>
                </a:solidFill>
                <a:latin typeface="Apple SD Gothic Neo"/>
                <a:ea typeface="Apple SD Gothic Neo"/>
                <a:cs typeface="Apple SD Gothic Neo"/>
              </a:rPr>
              <a:t>BEFORE</a:t>
            </a:r>
          </a:p>
        </p:txBody>
      </p:sp>
      <p:sp>
        <p:nvSpPr>
          <p:cNvPr id="6" name="s2-before-title">
            <a:extLst xmlns:a="http://schemas.openxmlformats.org/drawingml/2006/main">
              <a:ext uri="{FF2B5EF4-FFF2-40B4-BE49-F238E27FC236}">
                <a16:creationId xmlns:a16="http://schemas.microsoft.com/office/drawing/2014/main" id="{FDFC9F7E-F2B4-4110-B7E1-A971548A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B544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B54455"/>
                </a:solidFill>
                <a:latin typeface="Apple SD Gothic Neo"/>
                <a:ea typeface="Apple SD Gothic Neo"/>
                <a:cs typeface="Apple SD Gothic Neo"/>
              </a:rPr>
              <a:t>색만 덮은 결과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398911401495b"/>
          <a:srcRect xmlns:a="http://schemas.openxmlformats.org/drawingml/2006/main" l="0" t="394" r="0" b="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47950"/>
            <a:ext cx="2952750" cy="2076450"/>
          </a:xfrm>
          <a:prstGeom xmlns:a="http://schemas.openxmlformats.org/drawingml/2006/main" prst="roundRect">
            <a:avLst>
              <a:gd name="adj" fmla="val 8257"/>
            </a:avLst>
          </a:prstGeom>
        </p:spPr>
      </p:pic>
      <p:sp>
        <p:nvSpPr>
          <p:cNvPr id="8" name="s2-before-outline">
            <a:extLst xmlns:a="http://schemas.openxmlformats.org/drawingml/2006/main">
              <a:ext uri="{FF2B5EF4-FFF2-40B4-BE49-F238E27FC236}">
                <a16:creationId xmlns:a16="http://schemas.microsoft.com/office/drawing/2014/main" id="{DB21CC5E-DC4F-4120-BBA3-D41C21C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952750" cy="2076450"/>
          </a:xfrm>
          <a:prstGeom xmlns:a="http://schemas.openxmlformats.org/drawingml/2006/main" prst="roundRect">
            <a:avLst>
              <a:gd name="adj" fmla="val 825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5D9D6"/>
            </a:solidFill>
            <a:prstDash val="solid"/>
          </a:ln>
        </p:spPr>
      </p:sp>
      <p:sp>
        <p:nvSpPr>
          <p:cNvPr id="9" name="s2-after-kicker">
            <a:extLst xmlns:a="http://schemas.openxmlformats.org/drawingml/2006/main">
              <a:ext uri="{FF2B5EF4-FFF2-40B4-BE49-F238E27FC236}">
                <a16:creationId xmlns:a16="http://schemas.microsoft.com/office/drawing/2014/main" id="{1DB71E22-E34E-4903-93E4-F86F8ACF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10" name="s2-after-title">
            <a:extLst xmlns:a="http://schemas.openxmlformats.org/drawingml/2006/main">
              <a:ext uri="{FF2B5EF4-FFF2-40B4-BE49-F238E27FC236}">
                <a16:creationId xmlns:a16="http://schemas.microsoft.com/office/drawing/2014/main" id="{E1E0AF35-BEFD-44F3-95AD-F7186C57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원본 명암을 살린 결과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26044fcc94380"/>
          <a:srcRect xmlns:a="http://schemas.openxmlformats.org/drawingml/2006/main" l="14880" t="0" r="148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67200" y="2647950"/>
            <a:ext cx="2952750" cy="2076450"/>
          </a:xfrm>
          <a:prstGeom xmlns:a="http://schemas.openxmlformats.org/drawingml/2006/main" prst="roundRect">
            <a:avLst>
              <a:gd name="adj" fmla="val 8257"/>
            </a:avLst>
          </a:prstGeom>
        </p:spPr>
      </p:pic>
      <p:sp>
        <p:nvSpPr>
          <p:cNvPr id="12" name="s2-after-outline">
            <a:extLst xmlns:a="http://schemas.openxmlformats.org/drawingml/2006/main">
              <a:ext uri="{FF2B5EF4-FFF2-40B4-BE49-F238E27FC236}">
                <a16:creationId xmlns:a16="http://schemas.microsoft.com/office/drawing/2014/main" id="{8248EB0B-D0C4-4413-A795-0B700A78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952750" cy="2076450"/>
          </a:xfrm>
          <a:prstGeom xmlns:a="http://schemas.openxmlformats.org/drawingml/2006/main" prst="roundRect">
            <a:avLst>
              <a:gd name="adj" fmla="val 8257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5D9D6"/>
            </a:solidFill>
            <a:prstDash val="solid"/>
          </a:ln>
        </p:spPr>
      </p:sp>
      <p:sp>
        <p:nvSpPr>
          <p:cNvPr id="13" name="s2-lip-arrow-line">
            <a:extLst xmlns:a="http://schemas.openxmlformats.org/drawingml/2006/main">
              <a:ext uri="{FF2B5EF4-FFF2-40B4-BE49-F238E27FC236}">
                <a16:creationId xmlns:a16="http://schemas.microsoft.com/office/drawing/2014/main" id="{752BB50F-E00A-4470-AF2F-71F019E0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861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6A24"/>
            </a:solidFill>
            <a:prstDash val="solid"/>
          </a:ln>
        </p:spPr>
      </p:sp>
      <p:sp>
        <p:nvSpPr>
          <p:cNvPr id="14" name="s2-lip-arrow">
            <a:extLst xmlns:a="http://schemas.openxmlformats.org/drawingml/2006/main">
              <a:ext uri="{FF2B5EF4-FFF2-40B4-BE49-F238E27FC236}">
                <a16:creationId xmlns:a16="http://schemas.microsoft.com/office/drawing/2014/main" id="{EED8E626-8CD7-4A57-AFE9-A9D14DE1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533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e7f0ad40d46cd"/>
          <a:srcRect xmlns:a="http://schemas.openxmlformats.org/drawingml/2006/main" l="1182" t="0" r="1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1847850"/>
            <a:ext cx="2590800" cy="3524250"/>
          </a:xfrm>
          <a:prstGeom xmlns:a="http://schemas.openxmlformats.org/drawingml/2006/main" prst="roundRect">
            <a:avLst>
              <a:gd name="adj" fmla="val 6618"/>
            </a:avLst>
          </a:prstGeom>
        </p:spPr>
      </p:pic>
      <p:sp>
        <p:nvSpPr>
          <p:cNvPr id="16" name="s2-final-outline">
            <a:extLst xmlns:a="http://schemas.openxmlformats.org/drawingml/2006/main">
              <a:ext uri="{FF2B5EF4-FFF2-40B4-BE49-F238E27FC236}">
                <a16:creationId xmlns:a16="http://schemas.microsoft.com/office/drawing/2014/main" id="{492A739F-F2FD-4DC4-913F-5B8B6E29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2590800" cy="3524250"/>
          </a:xfrm>
          <a:prstGeom xmlns:a="http://schemas.openxmlformats.org/drawingml/2006/main" prst="roundRect">
            <a:avLst>
              <a:gd name="adj" fmla="val 6618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D5D9D6"/>
            </a:solidFill>
            <a:prstDash val="solid"/>
          </a:ln>
        </p:spPr>
      </p:sp>
      <p:sp>
        <p:nvSpPr>
          <p:cNvPr id="17" name="s2-final-caption">
            <a:extLst xmlns:a="http://schemas.openxmlformats.org/drawingml/2006/main">
              <a:ext uri="{FF2B5EF4-FFF2-40B4-BE49-F238E27FC236}">
                <a16:creationId xmlns:a16="http://schemas.microsoft.com/office/drawing/2014/main" id="{DE5661BD-09F0-44A4-8516-9D43E7B6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768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실시간 얼굴 위 최종 결과</a:t>
            </a:r>
          </a:p>
        </p:txBody>
      </p:sp>
      <p:sp>
        <p:nvSpPr>
          <p:cNvPr id="18" name="s2-bridge-line">
            <a:extLst xmlns:a="http://schemas.openxmlformats.org/drawingml/2006/main">
              <a:ext uri="{FF2B5EF4-FFF2-40B4-BE49-F238E27FC236}">
                <a16:creationId xmlns:a16="http://schemas.microsoft.com/office/drawing/2014/main" id="{D8E84CA8-0125-49C6-8980-3E6888C6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EE1DF"/>
            </a:solidFill>
            <a:prstDash val="solid"/>
          </a:ln>
        </p:spPr>
      </p:sp>
      <p:sp>
        <p:nvSpPr>
          <p:cNvPr id="19" name="s2-bridge-arrow">
            <a:extLst xmlns:a="http://schemas.openxmlformats.org/drawingml/2006/main">
              <a:ext uri="{FF2B5EF4-FFF2-40B4-BE49-F238E27FC236}">
                <a16:creationId xmlns:a16="http://schemas.microsoft.com/office/drawing/2014/main" id="{1D3830FC-0304-4905-8F54-4EAB27F3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33775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26A24"/>
            </a:solidFill>
            <a:prstDash val="solid"/>
          </a:ln>
        </p:spPr>
      </p:sp>
      <p:sp>
        <p:nvSpPr>
          <p:cNvPr id="20" name="s2-bridge-num-bg-0">
            <a:extLst xmlns:a="http://schemas.openxmlformats.org/drawingml/2006/main">
              <a:ext uri="{FF2B5EF4-FFF2-40B4-BE49-F238E27FC236}">
                <a16:creationId xmlns:a16="http://schemas.microsoft.com/office/drawing/2014/main" id="{F781A8A5-7B8E-457F-BC78-F7C15EAF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43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bridge-num-0">
            <a:extLst xmlns:a="http://schemas.openxmlformats.org/drawingml/2006/main">
              <a:ext uri="{FF2B5EF4-FFF2-40B4-BE49-F238E27FC236}">
                <a16:creationId xmlns:a16="http://schemas.microsoft.com/office/drawing/2014/main" id="{26F753A2-93C4-4EED-84BF-39AE550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1935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2" name="s2-bridge-title-0">
            <a:extLst xmlns:a="http://schemas.openxmlformats.org/drawingml/2006/main">
              <a:ext uri="{FF2B5EF4-FFF2-40B4-BE49-F238E27FC236}">
                <a16:creationId xmlns:a16="http://schemas.microsoft.com/office/drawing/2014/main" id="{A9F4F62A-E934-4383-961F-FFFB5ABF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E6EB5"/>
                </a:solidFill>
                <a:latin typeface="Apple SD Gothic Neo"/>
                <a:ea typeface="Apple SD Gothic Neo"/>
                <a:cs typeface="Apple SD Gothic Neo"/>
              </a:rPr>
              <a:t>시각 일치</a:t>
            </a:r>
          </a:p>
        </p:txBody>
      </p:sp>
      <p:sp>
        <p:nvSpPr>
          <p:cNvPr id="23" name="s2-bridge-num-bg-1">
            <a:extLst xmlns:a="http://schemas.openxmlformats.org/drawingml/2006/main">
              <a:ext uri="{FF2B5EF4-FFF2-40B4-BE49-F238E27FC236}">
                <a16:creationId xmlns:a16="http://schemas.microsoft.com/office/drawing/2014/main" id="{14982450-A351-468F-B2F8-65EA17A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95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2-bridge-num-1">
            <a:extLst xmlns:a="http://schemas.openxmlformats.org/drawingml/2006/main">
              <a:ext uri="{FF2B5EF4-FFF2-40B4-BE49-F238E27FC236}">
                <a16:creationId xmlns:a16="http://schemas.microsoft.com/office/drawing/2014/main" id="{B180F337-C8CC-485A-953B-DC56A87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5" name="s2-bridge-title-1">
            <a:extLst xmlns:a="http://schemas.openxmlformats.org/drawingml/2006/main">
              <a:ext uri="{FF2B5EF4-FFF2-40B4-BE49-F238E27FC236}">
                <a16:creationId xmlns:a16="http://schemas.microsoft.com/office/drawing/2014/main" id="{53FC253C-E786-4CF2-A6FC-301F1611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A9362"/>
                </a:solidFill>
                <a:latin typeface="Apple SD Gothic Neo"/>
                <a:ea typeface="Apple SD Gothic Neo"/>
                <a:cs typeface="Apple SD Gothic Neo"/>
              </a:rPr>
              <a:t>실제 경계</a:t>
            </a:r>
          </a:p>
        </p:txBody>
      </p:sp>
      <p:sp>
        <p:nvSpPr>
          <p:cNvPr id="26" name="s2-bridge-num-bg-2">
            <a:extLst xmlns:a="http://schemas.openxmlformats.org/drawingml/2006/main">
              <a:ext uri="{FF2B5EF4-FFF2-40B4-BE49-F238E27FC236}">
                <a16:creationId xmlns:a16="http://schemas.microsoft.com/office/drawing/2014/main" id="{5B2110E0-5D44-4537-84E3-7166D2DA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2-bridge-num-2">
            <a:extLst xmlns:a="http://schemas.openxmlformats.org/drawingml/2006/main">
              <a:ext uri="{FF2B5EF4-FFF2-40B4-BE49-F238E27FC236}">
                <a16:creationId xmlns:a16="http://schemas.microsoft.com/office/drawing/2014/main" id="{87CDE7D4-9807-4B40-8477-FAE2453D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24350"/>
            <a:ext cx="304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8" name="s2-bridge-title-2">
            <a:extLst xmlns:a="http://schemas.openxmlformats.org/drawingml/2006/main">
              <a:ext uri="{FF2B5EF4-FFF2-40B4-BE49-F238E27FC236}">
                <a16:creationId xmlns:a16="http://schemas.microsoft.com/office/drawing/2014/main" id="{6FCF05BD-308A-4993-B78F-72BECDED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1066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C23E62"/>
                </a:solidFill>
                <a:latin typeface="Apple SD Gothic Neo"/>
                <a:ea typeface="Apple SD Gothic Neo"/>
                <a:cs typeface="Apple SD Gothic Neo"/>
              </a:rPr>
              <a:t>명암 보존</a:t>
            </a:r>
          </a:p>
        </p:txBody>
      </p:sp>
      <p:sp>
        <p:nvSpPr>
          <p:cNvPr id="29" name="s2-result-rule">
            <a:extLst xmlns:a="http://schemas.openxmlformats.org/drawingml/2006/main">
              <a:ext uri="{FF2B5EF4-FFF2-40B4-BE49-F238E27FC236}">
                <a16:creationId xmlns:a16="http://schemas.microsoft.com/office/drawing/2014/main" id="{FD706439-0519-4B38-8400-952DF5E2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EE1DF"/>
            </a:solidFill>
            <a:prstDash val="solid"/>
          </a:ln>
        </p:spPr>
      </p:sp>
      <p:sp>
        <p:nvSpPr>
          <p:cNvPr id="30" name="s2-result-num-0">
            <a:extLst xmlns:a="http://schemas.openxmlformats.org/drawingml/2006/main">
              <a:ext uri="{FF2B5EF4-FFF2-40B4-BE49-F238E27FC236}">
                <a16:creationId xmlns:a16="http://schemas.microsoft.com/office/drawing/2014/main" id="{664B779B-BB7F-4252-ABF6-1194695A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1" name="s2-result-title-0">
            <a:extLst xmlns:a="http://schemas.openxmlformats.org/drawingml/2006/main">
              <a:ext uri="{FF2B5EF4-FFF2-40B4-BE49-F238E27FC236}">
                <a16:creationId xmlns:a16="http://schemas.microsoft.com/office/drawing/2014/main" id="{D6EC340D-2D3A-45E0-AC3B-C87EE29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15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움직임을 즉시 따라감</a:t>
            </a:r>
          </a:p>
        </p:txBody>
      </p:sp>
      <p:sp>
        <p:nvSpPr>
          <p:cNvPr id="32" name="s2-result-sub-0">
            <a:extLst xmlns:a="http://schemas.openxmlformats.org/drawingml/2006/main">
              <a:ext uri="{FF2B5EF4-FFF2-40B4-BE49-F238E27FC236}">
                <a16:creationId xmlns:a16="http://schemas.microsoft.com/office/drawing/2014/main" id="{B5FBD580-FF66-4290-8BE1-0420DC27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19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밀림 감소</a:t>
            </a:r>
          </a:p>
        </p:txBody>
      </p:sp>
      <p:sp>
        <p:nvSpPr>
          <p:cNvPr id="33" name="s2-result-sep-1">
            <a:extLst xmlns:a="http://schemas.openxmlformats.org/drawingml/2006/main">
              <a:ext uri="{FF2B5EF4-FFF2-40B4-BE49-F238E27FC236}">
                <a16:creationId xmlns:a16="http://schemas.microsoft.com/office/drawing/2014/main" id="{9F3D802F-859E-48A2-915A-28AE200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1150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EE1DF"/>
            </a:solidFill>
            <a:prstDash val="solid"/>
          </a:ln>
        </p:spPr>
      </p:sp>
      <p:sp>
        <p:nvSpPr>
          <p:cNvPr id="34" name="s2-result-num-1">
            <a:extLst xmlns:a="http://schemas.openxmlformats.org/drawingml/2006/main">
              <a:ext uri="{FF2B5EF4-FFF2-40B4-BE49-F238E27FC236}">
                <a16:creationId xmlns:a16="http://schemas.microsoft.com/office/drawing/2014/main" id="{094AE9E6-7FF4-4C9E-BC69-E42C32DE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53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5" name="s2-result-title-1">
            <a:extLst xmlns:a="http://schemas.openxmlformats.org/drawingml/2006/main">
              <a:ext uri="{FF2B5EF4-FFF2-40B4-BE49-F238E27FC236}">
                <a16:creationId xmlns:a16="http://schemas.microsoft.com/office/drawing/2014/main" id="{C6C6BC8E-108B-4D0E-9DDD-39DE7DC4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115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피부·입 안 경계를 지킴</a:t>
            </a:r>
          </a:p>
        </p:txBody>
      </p:sp>
      <p:sp>
        <p:nvSpPr>
          <p:cNvPr id="36" name="s2-result-sub-1">
            <a:extLst xmlns:a="http://schemas.openxmlformats.org/drawingml/2006/main">
              <a:ext uri="{FF2B5EF4-FFF2-40B4-BE49-F238E27FC236}">
                <a16:creationId xmlns:a16="http://schemas.microsoft.com/office/drawing/2014/main" id="{24495D2D-9BD1-4F4C-ACAB-9E51E84D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419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번짐 방지</a:t>
            </a:r>
          </a:p>
        </p:txBody>
      </p:sp>
      <p:sp>
        <p:nvSpPr>
          <p:cNvPr id="37" name="s2-result-sep-2">
            <a:extLst xmlns:a="http://schemas.openxmlformats.org/drawingml/2006/main">
              <a:ext uri="{FF2B5EF4-FFF2-40B4-BE49-F238E27FC236}">
                <a16:creationId xmlns:a16="http://schemas.microsoft.com/office/drawing/2014/main" id="{CC90FCE9-2ABD-4CD6-8905-AD16E4A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150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EE1DF"/>
            </a:solidFill>
            <a:prstDash val="solid"/>
          </a:ln>
        </p:spPr>
      </p:sp>
      <p:sp>
        <p:nvSpPr>
          <p:cNvPr id="38" name="s2-result-num-2">
            <a:extLst xmlns:a="http://schemas.openxmlformats.org/drawingml/2006/main">
              <a:ext uri="{FF2B5EF4-FFF2-40B4-BE49-F238E27FC236}">
                <a16:creationId xmlns:a16="http://schemas.microsoft.com/office/drawing/2014/main" id="{00678A06-BEB0-42CC-AF13-7A1C5EEF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53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26A24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39" name="s2-result-title-2">
            <a:extLst xmlns:a="http://schemas.openxmlformats.org/drawingml/2006/main">
              <a:ext uri="{FF2B5EF4-FFF2-40B4-BE49-F238E27FC236}">
                <a16:creationId xmlns:a16="http://schemas.microsoft.com/office/drawing/2014/main" id="{38C35CE1-D7D4-45BD-89AF-CF08DBC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15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1B22"/>
                </a:solidFill>
                <a:latin typeface="Apple SD Gothic Neo"/>
                <a:ea typeface="Apple SD Gothic Neo"/>
                <a:cs typeface="Apple SD Gothic Neo"/>
              </a:rPr>
              <a:t>밝기·주름·광택을 남김</a:t>
            </a:r>
          </a:p>
        </p:txBody>
      </p:sp>
      <p:sp>
        <p:nvSpPr>
          <p:cNvPr id="40" name="s2-result-sub-2">
            <a:extLst xmlns:a="http://schemas.openxmlformats.org/drawingml/2006/main">
              <a:ext uri="{FF2B5EF4-FFF2-40B4-BE49-F238E27FC236}">
                <a16:creationId xmlns:a16="http://schemas.microsoft.com/office/drawing/2014/main" id="{4420390C-C37E-4560-8084-CFF6CEA0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419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858B93"/>
                </a:solidFill>
                <a:latin typeface="Apple SD Gothic Neo"/>
                <a:ea typeface="Apple SD Gothic Neo"/>
                <a:cs typeface="Apple SD Gothic Neo"/>
              </a:rPr>
              <a:t>입체감 유지</a:t>
            </a:r>
          </a:p>
        </p:txBody>
      </p:sp>
    </p:spTree>
    <p:extLst>
      <p:ext uri="{BB962C8B-B14F-4D97-AF65-F5344CB8AC3E}">
        <p14:creationId xmlns:p14="http://schemas.microsoft.com/office/powerpoint/2010/main" val="1654317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2026-07-24T16:52:34.3530000Z</dcterms:created>
  <dcterms:modified xsi:type="dcterms:W3CDTF">2026-07-24T16:52:34.3530000Z</dcterms:modified>
</coreProperties>
</file>