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b686a01574515" /><Relationship Type="http://schemas.openxmlformats.org/officeDocument/2006/relationships/extended-properties" Target="/docProps/app.xml" Id="R5d94f6362e3443a4" /><Relationship Type="http://schemas.openxmlformats.org/officeDocument/2006/relationships/officeDocument" Target="/ppt/presentation.xml" Id="R7cfadda442ea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04fd066814915"/>
  </p:sldMasterIdLst>
  <p:notesMasterIdLst>
    <p:notesMasterId xmlns:r="http://schemas.openxmlformats.org/officeDocument/2006/relationships" r:id="Raa540357aeb44931"/>
  </p:notesMasterIdLst>
  <p:sldIdLst>
    <p:sldId xmlns:r="http://schemas.openxmlformats.org/officeDocument/2006/relationships" id="256" r:id="Rb34e022e36a8459e"/>
    <p:sldId xmlns:r="http://schemas.openxmlformats.org/officeDocument/2006/relationships" id="257" r:id="R909cb63f4dc04f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708a4810c34242" /><Relationship Type="http://schemas.openxmlformats.org/officeDocument/2006/relationships/slideMaster" Target="/ppt/slideMasters/slideMaster1.xml" Id="R9cb04fd066814915" /><Relationship Type="http://schemas.openxmlformats.org/officeDocument/2006/relationships/notesMaster" Target="/ppt/notesMasters/notesMaster1.xml" Id="Raa540357aeb44931" /><Relationship Type="http://schemas.openxmlformats.org/officeDocument/2006/relationships/presProps" Target="/ppt/presProps.xml" Id="Rbd296d4a6a8045d7" /><Relationship Type="http://schemas.openxmlformats.org/officeDocument/2006/relationships/tableStyles" Target="/ppt/tableStyles.xml" Id="Ra66209667cf94ef9" /><Relationship Type="http://schemas.openxmlformats.org/officeDocument/2006/relationships/slide" Target="/ppt/slides/slide1.xml" Id="Rb34e022e36a8459e" /><Relationship Type="http://schemas.openxmlformats.org/officeDocument/2006/relationships/slide" Target="/ppt/slides/slide2.xml" Id="R909cb63f4dc0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1a911a9dee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0b102755d42dd" /><Relationship Type="http://schemas.openxmlformats.org/officeDocument/2006/relationships/notesMaster" Target="/ppt/notesMasters/notesMaster1.xml" Id="Ra3a14aca1bad44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e72a03ca924132" /><Relationship Type="http://schemas.openxmlformats.org/officeDocument/2006/relationships/notesMaster" Target="/ppt/notesMasters/notesMaster1.xml" Id="R7d483370ef61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기존에는 화면, 좌표, 색을 각각 처리해 서로 다른 오차가 남았습니다.</a:t>
            </a:r>
          </a:p>
          <a:p xmlns:a="http://schemas.openxmlformats.org/drawingml/2006/main">
            <a:r>
              <a:t>개선 방식은 같은 프레임 안에서 시각, 경계, 명암을 함께 보정하는 구조입니다.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/Users/yeoduchi/302-group5-final-project/docs/unity-ar/glam2-refs/ours-glam-fullface.png</a:t>
            </a:r>
          </a:p>
          <a:p xmlns:a="http://schemas.openxmlformats.org/drawingml/2006/main">
            <a:r>
              <a:t>- /var/folders/bl/w00rm3lj0wsfm0l8t26rkd980000gn/T/TemporaryItems/NSIRD_screencaptureui_OCcwsK/스크린샷 2026-07-25 오전 12.39.47.png</a:t>
            </a:r>
          </a:p>
          <a:p xmlns:a="http://schemas.openxmlformats.org/drawingml/2006/main">
            <a:r>
              <a:t>- /var/folders/bl/w00rm3lj0wsfm0l8t26rkd980000gn/T/TemporaryItems/NSIRD_screencaptureui_EaJ1RM/스크린샷 2026-07-25 오전 1.33.45.png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입술 전후 비교에서는 색을 덮는 대신 원본 명암과 광택이 살아난 차이를 보여줍니다.</a:t>
            </a:r>
          </a:p>
          <a:p xmlns:a="http://schemas.openxmlformats.org/drawingml/2006/main">
            <a:r>
              <a:t>최종 결과는 지연, 번짐, 평면감을 함께 줄였다는 점으로 정리할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/Users/yeoduchi/302-group5-final-project/docs/unity-ar/glam2-refs/captures/0721-baseline-lips.png</a:t>
            </a:r>
          </a:p>
          <a:p xmlns:a="http://schemas.openxmlformats.org/drawingml/2006/main">
            <a:r>
              <a:t>- /private/tmp/codex-ar-rendering-slides-reference-style/lip-result-crop.png</a:t>
            </a:r>
          </a:p>
          <a:p xmlns:a="http://schemas.openxmlformats.org/drawingml/2006/main">
            <a:r>
              <a:t>- /private/tmp/codex-ar-rendering-slides-reference-style/final-face-crop.png</a:t>
            </a:r>
          </a:p>
          <a:p xmlns:a="http://schemas.openxmlformats.org/drawingml/2006/main">
            <a:r>
              <a:t>- /var/folders/bl/w00rm3lj0wsfm0l8t26rkd980000gn/T/TemporaryItems/NSIRD_screencaptureui_EaJ1RM/스크린샷 2026-07-25 오전 1.33.45.png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d7cea2317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d07aa91bd414c" /><Relationship Type="http://schemas.openxmlformats.org/officeDocument/2006/relationships/slideLayout" Target="/ppt/slideLayouts/slideLayout1.xml" Id="Rfecc888299d2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cc888299d2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e5dbcdc6c4498" /><Relationship Type="http://schemas.openxmlformats.org/officeDocument/2006/relationships/image" Target="/ppt/media/image.png" Id="R9a66b147f78e4498" /><Relationship Type="http://schemas.openxmlformats.org/officeDocument/2006/relationships/notesSlide" Target="/ppt/notesSlides/notesSlide1.xml" Id="Rc08e3e167266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ff5520544c98" /><Relationship Type="http://schemas.openxmlformats.org/officeDocument/2006/relationships/image" Target="/ppt/media/image2.png" Id="R6d46d10bd9084336" /><Relationship Type="http://schemas.openxmlformats.org/officeDocument/2006/relationships/image" Target="/ppt/media/image3.png" Id="R4824574f313f44ce" /><Relationship Type="http://schemas.openxmlformats.org/officeDocument/2006/relationships/image" Target="/ppt/media/image4.png" Id="Rb9948a404d184fea" /><Relationship Type="http://schemas.openxmlformats.org/officeDocument/2006/relationships/notesSlide" Target="/ppt/notesSlides/notesSlide2.xml" Id="Rb8ce4eff6ed2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1-eyebrow">
            <a:extLst xmlns:a="http://schemas.openxmlformats.org/drawingml/2006/main">
              <a:ext uri="{FF2B5EF4-FFF2-40B4-BE49-F238E27FC236}">
                <a16:creationId xmlns:a16="http://schemas.microsoft.com/office/drawing/2014/main" id="{EA12D4A2-EFCF-484F-8E3E-BC2BCCA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TECHNICAL CHALLENGE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2FCEB217-D579-4903-B11B-F62F33D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629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자연스러움을 위한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AR 메이크업 렌더링</a:t>
            </a:r>
          </a:p>
        </p:txBody>
      </p:sp>
      <p:sp>
        <p:nvSpPr>
          <p:cNvPr id="3" name="s1-subtitle">
            <a:extLst xmlns:a="http://schemas.openxmlformats.org/drawingml/2006/main">
              <a:ext uri="{FF2B5EF4-FFF2-40B4-BE49-F238E27FC236}">
                <a16:creationId xmlns:a16="http://schemas.microsoft.com/office/drawing/2014/main" id="{CD6EE3BE-DDFF-4676-9CB7-BA1E2D7C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실시간 영상에서 밀림·번짐·평면감을 줄이기 위해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세 가지 오차를 한 프레임에서 함께 보정했습니다.</a:t>
            </a:r>
          </a:p>
        </p:txBody>
      </p:sp>
      <p:sp>
        <p:nvSpPr>
          <p:cNvPr id="4" name="s1-image-bg">
            <a:extLst xmlns:a="http://schemas.openxmlformats.org/drawingml/2006/main">
              <a:ext uri="{FF2B5EF4-FFF2-40B4-BE49-F238E27FC236}">
                <a16:creationId xmlns:a16="http://schemas.microsoft.com/office/drawing/2014/main" id="{A9E156EB-1789-4FD8-AF68-DC50918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228850" cy="2105025"/>
          </a:xfrm>
          <a:prstGeom xmlns:a="http://schemas.openxmlformats.org/drawingml/2006/main" prst="roundRect">
            <a:avLst>
              <a:gd name="adj" fmla="val 9955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6b147f78e4498"/>
          <a:srcRect xmlns:a="http://schemas.openxmlformats.org/drawingml/2006/main" l="0" t="26408" r="0" b="26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2952750"/>
            <a:ext cx="2076450" cy="2124075"/>
          </a:xfrm>
          <a:prstGeom xmlns:a="http://schemas.openxmlformats.org/drawingml/2006/main" prst="roundRect">
            <a:avLst>
              <a:gd name="adj" fmla="val 8257"/>
            </a:avLst>
          </a:prstGeom>
        </p:spPr>
      </p:pic>
      <p:sp>
        <p:nvSpPr>
          <p:cNvPr id="6" name="s1-face-border">
            <a:extLst xmlns:a="http://schemas.openxmlformats.org/drawingml/2006/main">
              <a:ext uri="{FF2B5EF4-FFF2-40B4-BE49-F238E27FC236}">
                <a16:creationId xmlns:a16="http://schemas.microsoft.com/office/drawing/2014/main" id="{BF177EFA-AD83-44B2-9253-5A3082D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2076450" cy="2124075"/>
          </a:xfrm>
          <a:prstGeom xmlns:a="http://schemas.openxmlformats.org/drawingml/2006/main" prst="roundRect">
            <a:avLst>
              <a:gd name="adj" fmla="val 8257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7" name="s1-problem-box">
            <a:extLst xmlns:a="http://schemas.openxmlformats.org/drawingml/2006/main">
              <a:ext uri="{FF2B5EF4-FFF2-40B4-BE49-F238E27FC236}">
                <a16:creationId xmlns:a16="http://schemas.microsoft.com/office/drawing/2014/main" id="{6B723970-809B-4B82-87CC-1846124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21907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5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problem-label">
            <a:extLst xmlns:a="http://schemas.openxmlformats.org/drawingml/2006/main">
              <a:ext uri="{FF2B5EF4-FFF2-40B4-BE49-F238E27FC236}">
                <a16:creationId xmlns:a16="http://schemas.microsoft.com/office/drawing/2014/main" id="{25BD4005-E0A9-4B9F-9419-209DEF1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자연스러움을 깨는 오차</a:t>
            </a:r>
          </a:p>
        </p:txBody>
      </p:sp>
      <p:sp>
        <p:nvSpPr>
          <p:cNvPr id="9" name="s1-issue-num-bg-0">
            <a:extLst xmlns:a="http://schemas.openxmlformats.org/drawingml/2006/main">
              <a:ext uri="{FF2B5EF4-FFF2-40B4-BE49-F238E27FC236}">
                <a16:creationId xmlns:a16="http://schemas.microsoft.com/office/drawing/2014/main" id="{2E4BDC83-E00C-49D6-8939-25B4B4D5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623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-issue-num-0">
            <a:extLst xmlns:a="http://schemas.openxmlformats.org/drawingml/2006/main">
              <a:ext uri="{FF2B5EF4-FFF2-40B4-BE49-F238E27FC236}">
                <a16:creationId xmlns:a16="http://schemas.microsoft.com/office/drawing/2014/main" id="{0BDCEA5E-C95A-42C7-BF9A-229C261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s1-issue-0">
            <a:extLst xmlns:a="http://schemas.openxmlformats.org/drawingml/2006/main">
              <a:ext uri="{FF2B5EF4-FFF2-40B4-BE49-F238E27FC236}">
                <a16:creationId xmlns:a16="http://schemas.microsoft.com/office/drawing/2014/main" id="{7F51239C-6283-4F8D-9350-4E0EDEF7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밀림</a:t>
            </a:r>
          </a:p>
        </p:txBody>
      </p:sp>
      <p:sp>
        <p:nvSpPr>
          <p:cNvPr id="12" name="s1-issue-sub-0">
            <a:extLst xmlns:a="http://schemas.openxmlformats.org/drawingml/2006/main">
              <a:ext uri="{FF2B5EF4-FFF2-40B4-BE49-F238E27FC236}">
                <a16:creationId xmlns:a16="http://schemas.microsoft.com/office/drawing/2014/main" id="{C0FC9751-2A74-4675-A9C6-B9F49B9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시각 오차</a:t>
            </a:r>
          </a:p>
        </p:txBody>
      </p:sp>
      <p:sp>
        <p:nvSpPr>
          <p:cNvPr id="13" name="s1-issue-num-bg-1">
            <a:extLst xmlns:a="http://schemas.openxmlformats.org/drawingml/2006/main">
              <a:ext uri="{FF2B5EF4-FFF2-40B4-BE49-F238E27FC236}">
                <a16:creationId xmlns:a16="http://schemas.microsoft.com/office/drawing/2014/main" id="{BF57D06F-CE47-44EB-BFD5-134AAB30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2907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-issue-num-1">
            <a:extLst xmlns:a="http://schemas.openxmlformats.org/drawingml/2006/main">
              <a:ext uri="{FF2B5EF4-FFF2-40B4-BE49-F238E27FC236}">
                <a16:creationId xmlns:a16="http://schemas.microsoft.com/office/drawing/2014/main" id="{A9FC3761-FD47-4408-B0DA-A16DB55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86225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s1-issue-1">
            <a:extLst xmlns:a="http://schemas.openxmlformats.org/drawingml/2006/main">
              <a:ext uri="{FF2B5EF4-FFF2-40B4-BE49-F238E27FC236}">
                <a16:creationId xmlns:a16="http://schemas.microsoft.com/office/drawing/2014/main" id="{5403A33D-E87E-4174-876A-19B6786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481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번짐</a:t>
            </a:r>
          </a:p>
        </p:txBody>
      </p:sp>
      <p:sp>
        <p:nvSpPr>
          <p:cNvPr id="16" name="s1-issue-sub-1">
            <a:extLst xmlns:a="http://schemas.openxmlformats.org/drawingml/2006/main">
              <a:ext uri="{FF2B5EF4-FFF2-40B4-BE49-F238E27FC236}">
                <a16:creationId xmlns:a16="http://schemas.microsoft.com/office/drawing/2014/main" id="{41D24187-B865-4263-882A-E902C9D0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경계 오차</a:t>
            </a:r>
          </a:p>
        </p:txBody>
      </p:sp>
      <p:sp>
        <p:nvSpPr>
          <p:cNvPr id="17" name="s1-issue-num-bg-2">
            <a:extLst xmlns:a="http://schemas.openxmlformats.org/drawingml/2006/main">
              <a:ext uri="{FF2B5EF4-FFF2-40B4-BE49-F238E27FC236}">
                <a16:creationId xmlns:a16="http://schemas.microsoft.com/office/drawing/2014/main" id="{7A2E925B-4F1D-484A-9557-319038C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-issue-num-2">
            <a:extLst xmlns:a="http://schemas.openxmlformats.org/drawingml/2006/main">
              <a:ext uri="{FF2B5EF4-FFF2-40B4-BE49-F238E27FC236}">
                <a16:creationId xmlns:a16="http://schemas.microsoft.com/office/drawing/2014/main" id="{00B023EC-8DA1-4B1A-892F-577C463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s1-issue-2">
            <a:extLst xmlns:a="http://schemas.openxmlformats.org/drawingml/2006/main">
              <a:ext uri="{FF2B5EF4-FFF2-40B4-BE49-F238E27FC236}">
                <a16:creationId xmlns:a16="http://schemas.microsoft.com/office/drawing/2014/main" id="{DFA4AFB3-3F43-4114-8EAF-D91E067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148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평면감</a:t>
            </a:r>
          </a:p>
        </p:txBody>
      </p:sp>
      <p:sp>
        <p:nvSpPr>
          <p:cNvPr id="20" name="s1-issue-sub-2">
            <a:extLst xmlns:a="http://schemas.openxmlformats.org/drawingml/2006/main">
              <a:ext uri="{FF2B5EF4-FFF2-40B4-BE49-F238E27FC236}">
                <a16:creationId xmlns:a16="http://schemas.microsoft.com/office/drawing/2014/main" id="{831B85ED-E48F-4EB9-A0F6-41CCA01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명암 손실</a:t>
            </a:r>
          </a:p>
        </p:txBody>
      </p:sp>
      <p:sp>
        <p:nvSpPr>
          <p:cNvPr id="21" name="s1-panel">
            <a:extLst xmlns:a="http://schemas.openxmlformats.org/drawingml/2006/main">
              <a:ext uri="{FF2B5EF4-FFF2-40B4-BE49-F238E27FC236}">
                <a16:creationId xmlns:a16="http://schemas.microsoft.com/office/drawing/2014/main" id="{65C63104-5B99-4B69-95E0-2DFF120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"/>
            <a:ext cx="6019800" cy="4629150"/>
          </a:xfrm>
          <a:prstGeom xmlns:a="http://schemas.openxmlformats.org/drawingml/2006/main" prst="roundRect">
            <a:avLst>
              <a:gd name="adj" fmla="val 53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AD8"/>
            </a:solidFill>
            <a:prstDash val="solid"/>
          </a:ln>
        </p:spPr>
      </p:sp>
      <p:sp>
        <p:nvSpPr>
          <p:cNvPr id="22" name="s1-old-pill-bg">
            <a:extLst xmlns:a="http://schemas.openxmlformats.org/drawingml/2006/main">
              <a:ext uri="{FF2B5EF4-FFF2-40B4-BE49-F238E27FC236}">
                <a16:creationId xmlns:a16="http://schemas.microsoft.com/office/drawing/2014/main" id="{D771F54F-BE13-468E-ACD3-BFC8122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7810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-old-pill">
            <a:extLst xmlns:a="http://schemas.openxmlformats.org/drawingml/2006/main">
              <a:ext uri="{FF2B5EF4-FFF2-40B4-BE49-F238E27FC236}">
                <a16:creationId xmlns:a16="http://schemas.microsoft.com/office/drawing/2014/main" id="{AAD0DD6C-D9A4-4DA6-8DC0-4C747DC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4772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기존 방식</a:t>
            </a:r>
          </a:p>
        </p:txBody>
      </p:sp>
      <p:sp>
        <p:nvSpPr>
          <p:cNvPr id="24" name="s1-old-title">
            <a:extLst xmlns:a="http://schemas.openxmlformats.org/drawingml/2006/main">
              <a:ext uri="{FF2B5EF4-FFF2-40B4-BE49-F238E27FC236}">
                <a16:creationId xmlns:a16="http://schemas.microsoft.com/office/drawing/2014/main" id="{B54670A2-FEFB-4F1B-936C-0B4BC9E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38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요소별로 따로 처리</a:t>
            </a:r>
          </a:p>
        </p:txBody>
      </p:sp>
      <p:sp>
        <p:nvSpPr>
          <p:cNvPr id="25" name="s1-old-row-0">
            <a:extLst xmlns:a="http://schemas.openxmlformats.org/drawingml/2006/main">
              <a:ext uri="{FF2B5EF4-FFF2-40B4-BE49-F238E27FC236}">
                <a16:creationId xmlns:a16="http://schemas.microsoft.com/office/drawing/2014/main" id="{AFF48042-41BA-4848-8032-D6C73D81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285875"/>
            <a:ext cx="5467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A0A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old-text-0">
            <a:extLst xmlns:a="http://schemas.openxmlformats.org/drawingml/2006/main">
              <a:ext uri="{FF2B5EF4-FFF2-40B4-BE49-F238E27FC236}">
                <a16:creationId xmlns:a16="http://schemas.microsoft.com/office/drawing/2014/main" id="{80D347B4-59FF-431F-971F-BC0DC43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2397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화면은 최신 프레임 · 좌표는 이전 프레임</a:t>
            </a:r>
          </a:p>
        </p:txBody>
      </p:sp>
      <p:sp>
        <p:nvSpPr>
          <p:cNvPr id="27" name="s1-old-row-1">
            <a:extLst xmlns:a="http://schemas.openxmlformats.org/drawingml/2006/main">
              <a:ext uri="{FF2B5EF4-FFF2-40B4-BE49-F238E27FC236}">
                <a16:creationId xmlns:a16="http://schemas.microsoft.com/office/drawing/2014/main" id="{4491152D-65FC-4E6D-93C2-BC9A9CD1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9725"/>
            <a:ext cx="5467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6B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-old-text-1">
            <a:extLst xmlns:a="http://schemas.openxmlformats.org/drawingml/2006/main">
              <a:ext uri="{FF2B5EF4-FFF2-40B4-BE49-F238E27FC236}">
                <a16:creationId xmlns:a16="http://schemas.microsoft.com/office/drawing/2014/main" id="{24D2995D-37A9-459D-8309-E79D26E2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4782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기준점만 연결한 대략적 입술 형태</a:t>
            </a:r>
          </a:p>
        </p:txBody>
      </p:sp>
      <p:sp>
        <p:nvSpPr>
          <p:cNvPr id="29" name="s1-old-row-2">
            <a:extLst xmlns:a="http://schemas.openxmlformats.org/drawingml/2006/main">
              <a:ext uri="{FF2B5EF4-FFF2-40B4-BE49-F238E27FC236}">
                <a16:creationId xmlns:a16="http://schemas.microsoft.com/office/drawing/2014/main" id="{5A2E2170-2148-4EA5-A1A5-2C852838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33575"/>
            <a:ext cx="5467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6B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-old-text-2">
            <a:extLst xmlns:a="http://schemas.openxmlformats.org/drawingml/2006/main">
              <a:ext uri="{FF2B5EF4-FFF2-40B4-BE49-F238E27FC236}">
                <a16:creationId xmlns:a16="http://schemas.microsoft.com/office/drawing/2014/main" id="{BC637F4B-AF92-46C3-94BF-4B78979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7167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단색 블렌딩으로 원본 명암 손실</a:t>
            </a:r>
          </a:p>
        </p:txBody>
      </p:sp>
      <p:sp>
        <p:nvSpPr>
          <p:cNvPr id="31" name="s1-panel-divider">
            <a:extLst xmlns:a="http://schemas.openxmlformats.org/drawingml/2006/main">
              <a:ext uri="{FF2B5EF4-FFF2-40B4-BE49-F238E27FC236}">
                <a16:creationId xmlns:a16="http://schemas.microsoft.com/office/drawing/2014/main" id="{1FDB9CD0-4050-4BD0-A849-C9B4087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90775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32" name="s1-down-arrow">
            <a:extLst xmlns:a="http://schemas.openxmlformats.org/drawingml/2006/main">
              <a:ext uri="{FF2B5EF4-FFF2-40B4-BE49-F238E27FC236}">
                <a16:creationId xmlns:a16="http://schemas.microsoft.com/office/drawing/2014/main" id="{E5BB9F4C-3AE1-4224-B502-49D89576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2887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33" name="s1-new-pill-bg">
            <a:extLst xmlns:a="http://schemas.openxmlformats.org/drawingml/2006/main">
              <a:ext uri="{FF2B5EF4-FFF2-40B4-BE49-F238E27FC236}">
                <a16:creationId xmlns:a16="http://schemas.microsoft.com/office/drawing/2014/main" id="{3E1EE9F3-FBAD-442C-8F36-09D24B9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62275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-new-pill">
            <a:extLst xmlns:a="http://schemas.openxmlformats.org/drawingml/2006/main">
              <a:ext uri="{FF2B5EF4-FFF2-40B4-BE49-F238E27FC236}">
                <a16:creationId xmlns:a16="http://schemas.microsoft.com/office/drawing/2014/main" id="{17ACFED5-3C08-4559-B15E-D8954956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개선 방식</a:t>
            </a:r>
          </a:p>
        </p:txBody>
      </p:sp>
      <p:sp>
        <p:nvSpPr>
          <p:cNvPr id="35" name="s1-new-title">
            <a:extLst xmlns:a="http://schemas.openxmlformats.org/drawingml/2006/main">
              <a:ext uri="{FF2B5EF4-FFF2-40B4-BE49-F238E27FC236}">
                <a16:creationId xmlns:a16="http://schemas.microsoft.com/office/drawing/2014/main" id="{D1A51EFB-5DD3-441F-902B-A0E81992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세 보정을 한 프레임에서 동시 적용</a:t>
            </a:r>
          </a:p>
        </p:txBody>
      </p:sp>
      <p:sp>
        <p:nvSpPr>
          <p:cNvPr id="36" name="s1-core-node">
            <a:extLst xmlns:a="http://schemas.openxmlformats.org/drawingml/2006/main">
              <a:ext uri="{FF2B5EF4-FFF2-40B4-BE49-F238E27FC236}">
                <a16:creationId xmlns:a16="http://schemas.microsoft.com/office/drawing/2014/main" id="{59374687-3F8A-426F-9575-8C3862A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1200150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1-core-text">
            <a:extLst xmlns:a="http://schemas.openxmlformats.org/drawingml/2006/main">
              <a:ext uri="{FF2B5EF4-FFF2-40B4-BE49-F238E27FC236}">
                <a16:creationId xmlns:a16="http://schemas.microsoft.com/office/drawing/2014/main" id="{CAC5A23D-6B1F-4FD3-A7EB-AA5F78D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동시 보정</a:t>
            </a:r>
          </a:p>
        </p:txBody>
      </p:sp>
      <p:sp>
        <p:nvSpPr>
          <p:cNvPr id="38" name="s1-branch-main">
            <a:extLst xmlns:a="http://schemas.openxmlformats.org/drawingml/2006/main">
              <a:ext uri="{FF2B5EF4-FFF2-40B4-BE49-F238E27FC236}">
                <a16:creationId xmlns:a16="http://schemas.microsoft.com/office/drawing/2014/main" id="{BE712722-05FE-4C12-8929-BFBEB7A0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0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39" name="s1-branch-vertical">
            <a:extLst xmlns:a="http://schemas.openxmlformats.org/drawingml/2006/main">
              <a:ext uri="{FF2B5EF4-FFF2-40B4-BE49-F238E27FC236}">
                <a16:creationId xmlns:a16="http://schemas.microsoft.com/office/drawing/2014/main" id="{960D2818-64FC-496A-BC3E-8CC07FB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40" name="s1-branch-0">
            <a:extLst xmlns:a="http://schemas.openxmlformats.org/drawingml/2006/main">
              <a:ext uri="{FF2B5EF4-FFF2-40B4-BE49-F238E27FC236}">
                <a16:creationId xmlns:a16="http://schemas.microsoft.com/office/drawing/2014/main" id="{5555B704-DAC9-402F-9712-71E15F15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41" name="s1-fix-bg-0">
            <a:extLst xmlns:a="http://schemas.openxmlformats.org/drawingml/2006/main">
              <a:ext uri="{FF2B5EF4-FFF2-40B4-BE49-F238E27FC236}">
                <a16:creationId xmlns:a16="http://schemas.microsoft.com/office/drawing/2014/main" id="{BD3B0F26-9DE3-4A7A-A955-0E3D0F9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3105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42" name="s1-fix-num-0">
            <a:extLst xmlns:a="http://schemas.openxmlformats.org/drawingml/2006/main">
              <a:ext uri="{FF2B5EF4-FFF2-40B4-BE49-F238E27FC236}">
                <a16:creationId xmlns:a16="http://schemas.microsoft.com/office/drawing/2014/main" id="{8657C28B-F464-427D-BF34-33F68CF0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3" name="s1-fix-title-0">
            <a:extLst xmlns:a="http://schemas.openxmlformats.org/drawingml/2006/main">
              <a:ext uri="{FF2B5EF4-FFF2-40B4-BE49-F238E27FC236}">
                <a16:creationId xmlns:a16="http://schemas.microsoft.com/office/drawing/2014/main" id="{0090C537-D634-4B7D-80BA-FA49412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같은 시각</a:t>
            </a:r>
          </a:p>
        </p:txBody>
      </p:sp>
      <p:sp>
        <p:nvSpPr>
          <p:cNvPr id="44" name="s1-fix-body-0">
            <a:extLst xmlns:a="http://schemas.openxmlformats.org/drawingml/2006/main">
              <a:ext uri="{FF2B5EF4-FFF2-40B4-BE49-F238E27FC236}">
                <a16:creationId xmlns:a16="http://schemas.microsoft.com/office/drawing/2014/main" id="{C3E92855-2384-46AB-9C1C-19387CD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화면 T1 = 좌표 T1</a:t>
            </a:r>
          </a:p>
        </p:txBody>
      </p:sp>
      <p:sp>
        <p:nvSpPr>
          <p:cNvPr id="45" name="s1-branch-1">
            <a:extLst xmlns:a="http://schemas.openxmlformats.org/drawingml/2006/main">
              <a:ext uri="{FF2B5EF4-FFF2-40B4-BE49-F238E27FC236}">
                <a16:creationId xmlns:a16="http://schemas.microsoft.com/office/drawing/2014/main" id="{7C234AED-571F-49BA-9C96-8AAA024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46" name="s1-fix-bg-1">
            <a:extLst xmlns:a="http://schemas.openxmlformats.org/drawingml/2006/main">
              <a:ext uri="{FF2B5EF4-FFF2-40B4-BE49-F238E27FC236}">
                <a16:creationId xmlns:a16="http://schemas.microsoft.com/office/drawing/2014/main" id="{9A5F139C-A56B-4815-A70A-378BA20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3105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47" name="s1-fix-num-1">
            <a:extLst xmlns:a="http://schemas.openxmlformats.org/drawingml/2006/main">
              <a:ext uri="{FF2B5EF4-FFF2-40B4-BE49-F238E27FC236}">
                <a16:creationId xmlns:a16="http://schemas.microsoft.com/office/drawing/2014/main" id="{D78FEDF1-0277-4484-A9F1-3959E9F6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8" name="s1-fix-title-1">
            <a:extLst xmlns:a="http://schemas.openxmlformats.org/drawingml/2006/main">
              <a:ext uri="{FF2B5EF4-FFF2-40B4-BE49-F238E27FC236}">
                <a16:creationId xmlns:a16="http://schemas.microsoft.com/office/drawing/2014/main" id="{61E55F36-D222-46EE-8BC7-5DF6A4E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실제 경계</a:t>
            </a:r>
          </a:p>
        </p:txBody>
      </p:sp>
      <p:sp>
        <p:nvSpPr>
          <p:cNvPr id="49" name="s1-fix-body-1">
            <a:extLst xmlns:a="http://schemas.openxmlformats.org/drawingml/2006/main">
              <a:ext uri="{FF2B5EF4-FFF2-40B4-BE49-F238E27FC236}">
                <a16:creationId xmlns:a16="http://schemas.microsoft.com/office/drawing/2014/main" id="{A1E25AF3-4315-4BE3-8D45-7644F85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814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끝선 재탐색 · 내부 제외</a:t>
            </a:r>
          </a:p>
        </p:txBody>
      </p:sp>
      <p:sp>
        <p:nvSpPr>
          <p:cNvPr id="50" name="s1-branch-2">
            <a:extLst xmlns:a="http://schemas.openxmlformats.org/drawingml/2006/main">
              <a:ext uri="{FF2B5EF4-FFF2-40B4-BE49-F238E27FC236}">
                <a16:creationId xmlns:a16="http://schemas.microsoft.com/office/drawing/2014/main" id="{5C17E33B-93AB-4718-A88B-84A67CC8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51" name="s1-fix-bg-2">
            <a:extLst xmlns:a="http://schemas.openxmlformats.org/drawingml/2006/main">
              <a:ext uri="{FF2B5EF4-FFF2-40B4-BE49-F238E27FC236}">
                <a16:creationId xmlns:a16="http://schemas.microsoft.com/office/drawing/2014/main" id="{26C5F0F1-E21C-4A2A-AD60-9751CAE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105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52" name="s1-fix-num-2">
            <a:extLst xmlns:a="http://schemas.openxmlformats.org/drawingml/2006/main">
              <a:ext uri="{FF2B5EF4-FFF2-40B4-BE49-F238E27FC236}">
                <a16:creationId xmlns:a16="http://schemas.microsoft.com/office/drawing/2014/main" id="{A1F13310-9FB5-4499-9C19-DFF6E05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3" name="s1-fix-title-2">
            <a:extLst xmlns:a="http://schemas.openxmlformats.org/drawingml/2006/main">
              <a:ext uri="{FF2B5EF4-FFF2-40B4-BE49-F238E27FC236}">
                <a16:creationId xmlns:a16="http://schemas.microsoft.com/office/drawing/2014/main" id="{4E0A8383-368E-4408-80E3-AB32224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95800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원본 명암</a:t>
            </a:r>
          </a:p>
        </p:txBody>
      </p:sp>
      <p:sp>
        <p:nvSpPr>
          <p:cNvPr id="54" name="s1-fix-body-2">
            <a:extLst xmlns:a="http://schemas.openxmlformats.org/drawingml/2006/main">
              <a:ext uri="{FF2B5EF4-FFF2-40B4-BE49-F238E27FC236}">
                <a16:creationId xmlns:a16="http://schemas.microsoft.com/office/drawing/2014/main" id="{4EDDDBED-CCCF-4A52-BA0C-A19E9C04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밝기·주름·광택 복원</a:t>
            </a:r>
          </a:p>
        </p:txBody>
      </p:sp>
      <p:sp>
        <p:nvSpPr>
          <p:cNvPr id="55" name="bottom-top-0">
            <a:extLst xmlns:a="http://schemas.openxmlformats.org/drawingml/2006/main">
              <a:ext uri="{FF2B5EF4-FFF2-40B4-BE49-F238E27FC236}">
                <a16:creationId xmlns:a16="http://schemas.microsoft.com/office/drawing/2014/main" id="{5987EDBF-F7A4-4978-9758-40F25D0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56" name="bottom-icon-0">
            <a:extLst xmlns:a="http://schemas.openxmlformats.org/drawingml/2006/main">
              <a:ext uri="{FF2B5EF4-FFF2-40B4-BE49-F238E27FC236}">
                <a16:creationId xmlns:a16="http://schemas.microsoft.com/office/drawing/2014/main" id="{85F8E6DA-4B96-45E1-AA87-C2C0ED9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ttom-symbol-0">
            <a:extLst xmlns:a="http://schemas.openxmlformats.org/drawingml/2006/main">
              <a:ext uri="{FF2B5EF4-FFF2-40B4-BE49-F238E27FC236}">
                <a16:creationId xmlns:a16="http://schemas.microsoft.com/office/drawing/2014/main" id="{C4730FB9-4A42-4276-8B8F-D884AEBF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↔</a:t>
            </a:r>
          </a:p>
        </p:txBody>
      </p:sp>
      <p:sp>
        <p:nvSpPr>
          <p:cNvPr id="58" name="bottom-title-0">
            <a:extLst xmlns:a="http://schemas.openxmlformats.org/drawingml/2006/main">
              <a:ext uri="{FF2B5EF4-FFF2-40B4-BE49-F238E27FC236}">
                <a16:creationId xmlns:a16="http://schemas.microsoft.com/office/drawing/2014/main" id="{36A11A1A-0FEB-4B34-BE0C-63726285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프레임·좌표 동기화</a:t>
            </a:r>
          </a:p>
        </p:txBody>
      </p:sp>
      <p:sp>
        <p:nvSpPr>
          <p:cNvPr id="59" name="bottom-v-0">
            <a:extLst xmlns:a="http://schemas.openxmlformats.org/drawingml/2006/main">
              <a:ext uri="{FF2B5EF4-FFF2-40B4-BE49-F238E27FC236}">
                <a16:creationId xmlns:a16="http://schemas.microsoft.com/office/drawing/2014/main" id="{244CA591-7184-459A-9766-F41046C4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959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60" name="bottom-body-0">
            <a:extLst xmlns:a="http://schemas.openxmlformats.org/drawingml/2006/main">
              <a:ext uri="{FF2B5EF4-FFF2-40B4-BE49-F238E27FC236}">
                <a16:creationId xmlns:a16="http://schemas.microsoft.com/office/drawing/2014/main" id="{BADBE77B-5A66-41A4-B047-52E1177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34025"/>
            <a:ext cx="738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촬영 시각을 맞추고 중간 위치를 보간해 움직임의 밀림을 줄였습니다.</a:t>
            </a:r>
          </a:p>
        </p:txBody>
      </p:sp>
      <p:sp>
        <p:nvSpPr>
          <p:cNvPr id="61" name="bottom-line-0">
            <a:extLst xmlns:a="http://schemas.openxmlformats.org/drawingml/2006/main">
              <a:ext uri="{FF2B5EF4-FFF2-40B4-BE49-F238E27FC236}">
                <a16:creationId xmlns:a16="http://schemas.microsoft.com/office/drawing/2014/main" id="{354642D4-184D-4CAB-A98F-13848CD7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62" name="bottom-icon-1">
            <a:extLst xmlns:a="http://schemas.openxmlformats.org/drawingml/2006/main">
              <a:ext uri="{FF2B5EF4-FFF2-40B4-BE49-F238E27FC236}">
                <a16:creationId xmlns:a16="http://schemas.microsoft.com/office/drawing/2014/main" id="{30C0BCAF-DF7A-485B-B24F-B2E5F8E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ottom-symbol-1">
            <a:extLst xmlns:a="http://schemas.openxmlformats.org/drawingml/2006/main">
              <a:ext uri="{FF2B5EF4-FFF2-40B4-BE49-F238E27FC236}">
                <a16:creationId xmlns:a16="http://schemas.microsoft.com/office/drawing/2014/main" id="{F7EC77FC-C1A4-463C-A024-3C28096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64" name="bottom-title-1">
            <a:extLst xmlns:a="http://schemas.openxmlformats.org/drawingml/2006/main">
              <a:ext uri="{FF2B5EF4-FFF2-40B4-BE49-F238E27FC236}">
                <a16:creationId xmlns:a16="http://schemas.microsoft.com/office/drawing/2014/main" id="{C2A86009-635C-480D-A587-CE29074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34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경계·명암 복원</a:t>
            </a:r>
          </a:p>
        </p:txBody>
      </p:sp>
      <p:sp>
        <p:nvSpPr>
          <p:cNvPr id="65" name="bottom-v-1">
            <a:extLst xmlns:a="http://schemas.openxmlformats.org/drawingml/2006/main">
              <a:ext uri="{FF2B5EF4-FFF2-40B4-BE49-F238E27FC236}">
                <a16:creationId xmlns:a16="http://schemas.microsoft.com/office/drawing/2014/main" id="{34E487B7-A0D6-4629-85EC-E5CECA4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055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66" name="bottom-body-1">
            <a:extLst xmlns:a="http://schemas.openxmlformats.org/drawingml/2006/main">
              <a:ext uri="{FF2B5EF4-FFF2-40B4-BE49-F238E27FC236}">
                <a16:creationId xmlns:a16="http://schemas.microsoft.com/office/drawing/2014/main" id="{0C9A4014-93A7-4E80-B353-D0E90C2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43625"/>
            <a:ext cx="738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실제 끝선과 원본 밝기 구조를 되살려 번짐과 평면감을 줄였습니다.</a:t>
            </a:r>
          </a:p>
        </p:txBody>
      </p:sp>
      <p:sp>
        <p:nvSpPr>
          <p:cNvPr id="67" name="bottom-line-1">
            <a:extLst xmlns:a="http://schemas.openxmlformats.org/drawingml/2006/main">
              <a:ext uri="{FF2B5EF4-FFF2-40B4-BE49-F238E27FC236}">
                <a16:creationId xmlns:a16="http://schemas.microsoft.com/office/drawing/2014/main" id="{46C824ED-1C76-4A5E-A94F-BE088321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68" name="page-1">
            <a:extLst xmlns:a="http://schemas.openxmlformats.org/drawingml/2006/main">
              <a:ext uri="{FF2B5EF4-FFF2-40B4-BE49-F238E27FC236}">
                <a16:creationId xmlns:a16="http://schemas.microsoft.com/office/drawing/2014/main" id="{DC9EEA7E-8EB7-40CE-A3C0-7633B04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63892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2079716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2-eyebrow">
            <a:extLst xmlns:a="http://schemas.openxmlformats.org/drawingml/2006/main">
              <a:ext uri="{FF2B5EF4-FFF2-40B4-BE49-F238E27FC236}">
                <a16:creationId xmlns:a16="http://schemas.microsoft.com/office/drawing/2014/main" id="{93AF896F-116E-44C2-A1E9-B181FDE2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RESULT  ·  NATURALNESS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A4001AA9-31D8-4A78-8C73-062D6E0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629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세 가지 보정이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합쳐진 최종 결과</a:t>
            </a:r>
          </a:p>
        </p:txBody>
      </p:sp>
      <p:sp>
        <p:nvSpPr>
          <p:cNvPr id="3" name="s2-subtitle">
            <a:extLst xmlns:a="http://schemas.openxmlformats.org/drawingml/2006/main">
              <a:ext uri="{FF2B5EF4-FFF2-40B4-BE49-F238E27FC236}">
                <a16:creationId xmlns:a16="http://schemas.microsoft.com/office/drawing/2014/main" id="{A59F01DD-0255-4F74-8655-0E2E3E9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위치·경계·명암이 함께 맞을 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화장이 얼굴 위에 자연스럽게 붙어 보였습니다.</a:t>
            </a:r>
          </a:p>
        </p:txBody>
      </p:sp>
      <p:sp>
        <p:nvSpPr>
          <p:cNvPr id="4" name="s2-before-label">
            <a:extLst xmlns:a="http://schemas.openxmlformats.org/drawingml/2006/main">
              <a:ext uri="{FF2B5EF4-FFF2-40B4-BE49-F238E27FC236}">
                <a16:creationId xmlns:a16="http://schemas.microsoft.com/office/drawing/2014/main" id="{B642BCD9-3F86-444B-9714-6E7A88D3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448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44858"/>
                </a:solidFill>
                <a:latin typeface="Apple SD Gothic Neo"/>
                <a:ea typeface="Apple SD Gothic Neo"/>
                <a:cs typeface="Apple SD Gothic Neo"/>
              </a:rPr>
              <a:t>색만 덮은 결과</a:t>
            </a:r>
          </a:p>
        </p:txBody>
      </p:sp>
      <p:sp>
        <p:nvSpPr>
          <p:cNvPr id="5" name="s2-after-label">
            <a:extLst xmlns:a="http://schemas.openxmlformats.org/drawingml/2006/main">
              <a:ext uri="{FF2B5EF4-FFF2-40B4-BE49-F238E27FC236}">
                <a16:creationId xmlns:a16="http://schemas.microsoft.com/office/drawing/2014/main" id="{D02C22CD-C17D-40E4-8A5B-C4B9C60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명암을 살린 결과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6d10bd9084336"/>
          <a:srcRect xmlns:a="http://schemas.openxmlformats.org/drawingml/2006/main" l="1328" t="0" r="13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371850"/>
            <a:ext cx="1962150" cy="142875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7" name="s2-before-border">
            <a:extLst xmlns:a="http://schemas.openxmlformats.org/drawingml/2006/main">
              <a:ext uri="{FF2B5EF4-FFF2-40B4-BE49-F238E27FC236}">
                <a16:creationId xmlns:a16="http://schemas.microsoft.com/office/drawing/2014/main" id="{0611D3F2-832A-43C6-946F-56BC90EE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962150" cy="142875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8" name="s2-arrow">
            <a:extLst xmlns:a="http://schemas.openxmlformats.org/drawingml/2006/main">
              <a:ext uri="{FF2B5EF4-FFF2-40B4-BE49-F238E27FC236}">
                <a16:creationId xmlns:a16="http://schemas.microsoft.com/office/drawing/2014/main" id="{9F336CD7-1719-4BC2-BD9A-E45B65D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576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4574f313f44ce"/>
          <a:srcRect xmlns:a="http://schemas.openxmlformats.org/drawingml/2006/main" l="17400" t="0" r="17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5650" y="3371850"/>
            <a:ext cx="1885950" cy="142875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10" name="s2-after-border">
            <a:extLst xmlns:a="http://schemas.openxmlformats.org/drawingml/2006/main">
              <a:ext uri="{FF2B5EF4-FFF2-40B4-BE49-F238E27FC236}">
                <a16:creationId xmlns:a16="http://schemas.microsoft.com/office/drawing/2014/main" id="{071635BE-4925-4351-913F-125B630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71850"/>
            <a:ext cx="1885950" cy="142875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11" name="s2-panel">
            <a:extLst xmlns:a="http://schemas.openxmlformats.org/drawingml/2006/main">
              <a:ext uri="{FF2B5EF4-FFF2-40B4-BE49-F238E27FC236}">
                <a16:creationId xmlns:a16="http://schemas.microsoft.com/office/drawing/2014/main" id="{06A51457-E34F-468A-B022-53A469F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"/>
            <a:ext cx="6019800" cy="4629150"/>
          </a:xfrm>
          <a:prstGeom xmlns:a="http://schemas.openxmlformats.org/drawingml/2006/main" prst="roundRect">
            <a:avLst>
              <a:gd name="adj" fmla="val 53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AD8"/>
            </a:solidFill>
            <a:prstDash val="solid"/>
          </a:ln>
        </p:spPr>
      </p:sp>
      <p:sp>
        <p:nvSpPr>
          <p:cNvPr id="12" name="s2-result-pill-bg">
            <a:extLst xmlns:a="http://schemas.openxmlformats.org/drawingml/2006/main">
              <a:ext uri="{FF2B5EF4-FFF2-40B4-BE49-F238E27FC236}">
                <a16:creationId xmlns:a16="http://schemas.microsoft.com/office/drawing/2014/main" id="{035055E2-27A3-4EB8-87FE-EDB0A89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7810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result-pill">
            <a:extLst xmlns:a="http://schemas.openxmlformats.org/drawingml/2006/main">
              <a:ext uri="{FF2B5EF4-FFF2-40B4-BE49-F238E27FC236}">
                <a16:creationId xmlns:a16="http://schemas.microsoft.com/office/drawing/2014/main" id="{748F0688-2776-4E4A-881E-543CACB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47725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결과</a:t>
            </a:r>
          </a:p>
        </p:txBody>
      </p:sp>
      <p:sp>
        <p:nvSpPr>
          <p:cNvPr id="14" name="s2-result-title">
            <a:extLst xmlns:a="http://schemas.openxmlformats.org/drawingml/2006/main">
              <a:ext uri="{FF2B5EF4-FFF2-40B4-BE49-F238E27FC236}">
                <a16:creationId xmlns:a16="http://schemas.microsoft.com/office/drawing/2014/main" id="{3B0FE7A7-2208-40CE-B0C6-161DD03F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38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화장이 얼굴에 붙어 보이는 상태</a:t>
            </a:r>
          </a:p>
        </p:txBody>
      </p:sp>
      <p:sp>
        <p:nvSpPr>
          <p:cNvPr id="15" name="s2-image-back">
            <a:extLst xmlns:a="http://schemas.openxmlformats.org/drawingml/2006/main">
              <a:ext uri="{FF2B5EF4-FFF2-40B4-BE49-F238E27FC236}">
                <a16:creationId xmlns:a16="http://schemas.microsoft.com/office/drawing/2014/main" id="{C7178E0C-7EC6-4D14-88E2-6148D8B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371600"/>
            <a:ext cx="2209800" cy="32766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48a404d184fea"/>
          <a:srcRect xmlns:a="http://schemas.openxmlformats.org/drawingml/2006/main" l="9075" t="0" r="90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276350"/>
            <a:ext cx="2019300" cy="3276600"/>
          </a:xfrm>
          <a:prstGeom xmlns:a="http://schemas.openxmlformats.org/drawingml/2006/main" prst="roundRect">
            <a:avLst>
              <a:gd name="adj" fmla="val 8491"/>
            </a:avLst>
          </a:prstGeom>
        </p:spPr>
      </p:pic>
      <p:sp>
        <p:nvSpPr>
          <p:cNvPr id="17" name="s2-final-face-border">
            <a:extLst xmlns:a="http://schemas.openxmlformats.org/drawingml/2006/main">
              <a:ext uri="{FF2B5EF4-FFF2-40B4-BE49-F238E27FC236}">
                <a16:creationId xmlns:a16="http://schemas.microsoft.com/office/drawing/2014/main" id="{739281A3-E202-4FAA-A110-A0AC598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76350"/>
            <a:ext cx="2019300" cy="3276600"/>
          </a:xfrm>
          <a:prstGeom xmlns:a="http://schemas.openxmlformats.org/drawingml/2006/main" prst="roundRect">
            <a:avLst>
              <a:gd name="adj" fmla="val 8491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18" name="s2-final-caption">
            <a:extLst xmlns:a="http://schemas.openxmlformats.org/drawingml/2006/main">
              <a:ext uri="{FF2B5EF4-FFF2-40B4-BE49-F238E27FC236}">
                <a16:creationId xmlns:a16="http://schemas.microsoft.com/office/drawing/2014/main" id="{B145AFF2-E93D-4C97-A150-41BEBAC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577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최종 AR 적용 화면</a:t>
            </a:r>
          </a:p>
        </p:txBody>
      </p:sp>
      <p:sp>
        <p:nvSpPr>
          <p:cNvPr id="19" name="s2-core-node">
            <a:extLst xmlns:a="http://schemas.openxmlformats.org/drawingml/2006/main">
              <a:ext uri="{FF2B5EF4-FFF2-40B4-BE49-F238E27FC236}">
                <a16:creationId xmlns:a16="http://schemas.microsoft.com/office/drawing/2014/main" id="{51216A35-5782-47E0-9E46-BF6F78F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11049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2-core-text">
            <a:extLst xmlns:a="http://schemas.openxmlformats.org/drawingml/2006/main">
              <a:ext uri="{FF2B5EF4-FFF2-40B4-BE49-F238E27FC236}">
                <a16:creationId xmlns:a16="http://schemas.microsoft.com/office/drawing/2014/main" id="{88FABA61-9B76-4EEC-9CCA-F1E206C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자연스러움</a:t>
            </a:r>
          </a:p>
        </p:txBody>
      </p:sp>
      <p:sp>
        <p:nvSpPr>
          <p:cNvPr id="21" name="s2-branch-main">
            <a:extLst xmlns:a="http://schemas.openxmlformats.org/drawingml/2006/main">
              <a:ext uri="{FF2B5EF4-FFF2-40B4-BE49-F238E27FC236}">
                <a16:creationId xmlns:a16="http://schemas.microsoft.com/office/drawing/2014/main" id="{1A5F7493-70F4-48EB-9168-CD6D239E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71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22" name="s2-branch-vertical">
            <a:extLst xmlns:a="http://schemas.openxmlformats.org/drawingml/2006/main">
              <a:ext uri="{FF2B5EF4-FFF2-40B4-BE49-F238E27FC236}">
                <a16:creationId xmlns:a16="http://schemas.microsoft.com/office/drawing/2014/main" id="{1B1B12E0-73B7-4C9D-8D11-D5E17FD3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23" name="s2-branch-0">
            <a:extLst xmlns:a="http://schemas.openxmlformats.org/drawingml/2006/main">
              <a:ext uri="{FF2B5EF4-FFF2-40B4-BE49-F238E27FC236}">
                <a16:creationId xmlns:a16="http://schemas.microsoft.com/office/drawing/2014/main" id="{2C8DEFA3-1B04-425C-B303-A53026D4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573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24" name="s2-outcome-bg-0">
            <a:extLst xmlns:a="http://schemas.openxmlformats.org/drawingml/2006/main">
              <a:ext uri="{FF2B5EF4-FFF2-40B4-BE49-F238E27FC236}">
                <a16:creationId xmlns:a16="http://schemas.microsoft.com/office/drawing/2014/main" id="{6315AF55-AB6B-4EE0-A64B-4F62DD1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62100"/>
            <a:ext cx="1466850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25" name="s2-outcome-num-0">
            <a:extLst xmlns:a="http://schemas.openxmlformats.org/drawingml/2006/main">
              <a:ext uri="{FF2B5EF4-FFF2-40B4-BE49-F238E27FC236}">
                <a16:creationId xmlns:a16="http://schemas.microsoft.com/office/drawing/2014/main" id="{9BE073A4-EB22-4C31-93F1-1286A575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57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6" name="s2-outcome-title-0">
            <a:extLst xmlns:a="http://schemas.openxmlformats.org/drawingml/2006/main">
              <a:ext uri="{FF2B5EF4-FFF2-40B4-BE49-F238E27FC236}">
                <a16:creationId xmlns:a16="http://schemas.microsoft.com/office/drawing/2014/main" id="{DB2A5204-4A75-4387-84E3-E4E0782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383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늦지 않음</a:t>
            </a:r>
          </a:p>
        </p:txBody>
      </p:sp>
      <p:sp>
        <p:nvSpPr>
          <p:cNvPr id="27" name="s2-outcome-body-0">
            <a:extLst xmlns:a="http://schemas.openxmlformats.org/drawingml/2006/main">
              <a:ext uri="{FF2B5EF4-FFF2-40B4-BE49-F238E27FC236}">
                <a16:creationId xmlns:a16="http://schemas.microsoft.com/office/drawing/2014/main" id="{A145158E-E925-437A-91CB-7A59033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05000"/>
            <a:ext cx="1200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움직임을 즉시 따라감</a:t>
            </a:r>
          </a:p>
        </p:txBody>
      </p:sp>
      <p:sp>
        <p:nvSpPr>
          <p:cNvPr id="28" name="s2-branch-1">
            <a:extLst xmlns:a="http://schemas.openxmlformats.org/drawingml/2006/main">
              <a:ext uri="{FF2B5EF4-FFF2-40B4-BE49-F238E27FC236}">
                <a16:creationId xmlns:a16="http://schemas.microsoft.com/office/drawing/2014/main" id="{19DDF830-89FB-4C1E-A8B2-FBCA5C0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955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29" name="s2-outcome-bg-1">
            <a:extLst xmlns:a="http://schemas.openxmlformats.org/drawingml/2006/main">
              <a:ext uri="{FF2B5EF4-FFF2-40B4-BE49-F238E27FC236}">
                <a16:creationId xmlns:a16="http://schemas.microsoft.com/office/drawing/2014/main" id="{9F1EB69E-39B6-484A-921F-F7E7B9E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1466850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30" name="s2-outcome-num-1">
            <a:extLst xmlns:a="http://schemas.openxmlformats.org/drawingml/2006/main">
              <a:ext uri="{FF2B5EF4-FFF2-40B4-BE49-F238E27FC236}">
                <a16:creationId xmlns:a16="http://schemas.microsoft.com/office/drawing/2014/main" id="{3F575339-2FAF-456B-8A3E-C5C2367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1" name="s2-outcome-title-1">
            <a:extLst xmlns:a="http://schemas.openxmlformats.org/drawingml/2006/main">
              <a:ext uri="{FF2B5EF4-FFF2-40B4-BE49-F238E27FC236}">
                <a16:creationId xmlns:a16="http://schemas.microsoft.com/office/drawing/2014/main" id="{ADD7D778-E4E6-4488-96BD-45B5103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번지지 않음</a:t>
            </a:r>
          </a:p>
        </p:txBody>
      </p:sp>
      <p:sp>
        <p:nvSpPr>
          <p:cNvPr id="32" name="s2-outcome-body-1">
            <a:extLst xmlns:a="http://schemas.openxmlformats.org/drawingml/2006/main">
              <a:ext uri="{FF2B5EF4-FFF2-40B4-BE49-F238E27FC236}">
                <a16:creationId xmlns:a16="http://schemas.microsoft.com/office/drawing/2014/main" id="{80BCABDA-A3A0-4954-A6EB-64A1AE6A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1200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피부·입 안 경계 보호</a:t>
            </a:r>
          </a:p>
        </p:txBody>
      </p:sp>
      <p:sp>
        <p:nvSpPr>
          <p:cNvPr id="33" name="s2-branch-2">
            <a:extLst xmlns:a="http://schemas.openxmlformats.org/drawingml/2006/main">
              <a:ext uri="{FF2B5EF4-FFF2-40B4-BE49-F238E27FC236}">
                <a16:creationId xmlns:a16="http://schemas.microsoft.com/office/drawing/2014/main" id="{2320FBE2-98C8-4E06-B367-7E6B564E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337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6B22"/>
            </a:solidFill>
            <a:prstDash val="dash"/>
          </a:ln>
        </p:spPr>
      </p:sp>
      <p:sp>
        <p:nvSpPr>
          <p:cNvPr id="34" name="s2-outcome-bg-2">
            <a:extLst xmlns:a="http://schemas.openxmlformats.org/drawingml/2006/main">
              <a:ext uri="{FF2B5EF4-FFF2-40B4-BE49-F238E27FC236}">
                <a16:creationId xmlns:a16="http://schemas.microsoft.com/office/drawing/2014/main" id="{E99914F9-2D90-4551-B323-CF180182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466850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0F7EC"/>
          </a:solidFill>
          <a:ln xmlns:a="http://schemas.openxmlformats.org/drawingml/2006/main" w="9525">
            <a:solidFill>
              <a:srgbClr val="D6E5D3"/>
            </a:solidFill>
            <a:prstDash val="solid"/>
          </a:ln>
        </p:spPr>
      </p:sp>
      <p:sp>
        <p:nvSpPr>
          <p:cNvPr id="35" name="s2-outcome-num-2">
            <a:extLst xmlns:a="http://schemas.openxmlformats.org/drawingml/2006/main">
              <a:ext uri="{FF2B5EF4-FFF2-40B4-BE49-F238E27FC236}">
                <a16:creationId xmlns:a16="http://schemas.microsoft.com/office/drawing/2014/main" id="{CE6250D2-D8B0-4170-B5BB-7D25ED9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6" name="s2-outcome-title-2">
            <a:extLst xmlns:a="http://schemas.openxmlformats.org/drawingml/2006/main">
              <a:ext uri="{FF2B5EF4-FFF2-40B4-BE49-F238E27FC236}">
                <a16:creationId xmlns:a16="http://schemas.microsoft.com/office/drawing/2014/main" id="{5B0D2BCA-7F70-45A5-93F6-443720A6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6B22"/>
                </a:solidFill>
                <a:latin typeface="Apple SD Gothic Neo"/>
                <a:ea typeface="Apple SD Gothic Neo"/>
                <a:cs typeface="Apple SD Gothic Neo"/>
              </a:rPr>
              <a:t>입체감 유지</a:t>
            </a:r>
          </a:p>
        </p:txBody>
      </p:sp>
      <p:sp>
        <p:nvSpPr>
          <p:cNvPr id="37" name="s2-outcome-body-2">
            <a:extLst xmlns:a="http://schemas.openxmlformats.org/drawingml/2006/main">
              <a:ext uri="{FF2B5EF4-FFF2-40B4-BE49-F238E27FC236}">
                <a16:creationId xmlns:a16="http://schemas.microsoft.com/office/drawing/2014/main" id="{2912F1A7-38AE-4CB8-BC23-3ECC5545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200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D535C"/>
                </a:solidFill>
                <a:latin typeface="Apple SD Gothic Neo"/>
                <a:ea typeface="Apple SD Gothic Neo"/>
                <a:cs typeface="Apple SD Gothic Neo"/>
              </a:rPr>
              <a:t>밝기·주름·광택 보존</a:t>
            </a:r>
          </a:p>
        </p:txBody>
      </p:sp>
      <p:sp>
        <p:nvSpPr>
          <p:cNvPr id="38" name="bottom-top-0">
            <a:extLst xmlns:a="http://schemas.openxmlformats.org/drawingml/2006/main">
              <a:ext uri="{FF2B5EF4-FFF2-40B4-BE49-F238E27FC236}">
                <a16:creationId xmlns:a16="http://schemas.microsoft.com/office/drawing/2014/main" id="{F26E00C3-54C4-4553-A74C-BAE29B9D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39" name="bottom-icon-0">
            <a:extLst xmlns:a="http://schemas.openxmlformats.org/drawingml/2006/main">
              <a:ext uri="{FF2B5EF4-FFF2-40B4-BE49-F238E27FC236}">
                <a16:creationId xmlns:a16="http://schemas.microsoft.com/office/drawing/2014/main" id="{E9029CA0-9FE0-45B2-AA8C-189D436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ttom-symbol-0">
            <a:extLst xmlns:a="http://schemas.openxmlformats.org/drawingml/2006/main">
              <a:ext uri="{FF2B5EF4-FFF2-40B4-BE49-F238E27FC236}">
                <a16:creationId xmlns:a16="http://schemas.microsoft.com/office/drawing/2014/main" id="{1ABED4A6-CC23-463D-956E-942520D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41" name="bottom-title-0">
            <a:extLst xmlns:a="http://schemas.openxmlformats.org/drawingml/2006/main">
              <a:ext uri="{FF2B5EF4-FFF2-40B4-BE49-F238E27FC236}">
                <a16:creationId xmlns:a16="http://schemas.microsoft.com/office/drawing/2014/main" id="{1946C1FB-02CF-4A1D-814E-E252231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같은 시각·실제 경계</a:t>
            </a:r>
          </a:p>
        </p:txBody>
      </p:sp>
      <p:sp>
        <p:nvSpPr>
          <p:cNvPr id="42" name="bottom-v-0">
            <a:extLst xmlns:a="http://schemas.openxmlformats.org/drawingml/2006/main">
              <a:ext uri="{FF2B5EF4-FFF2-40B4-BE49-F238E27FC236}">
                <a16:creationId xmlns:a16="http://schemas.microsoft.com/office/drawing/2014/main" id="{9C21786B-CAC5-4DFD-AC4C-445C4F01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959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43" name="bottom-body-0">
            <a:extLst xmlns:a="http://schemas.openxmlformats.org/drawingml/2006/main">
              <a:ext uri="{FF2B5EF4-FFF2-40B4-BE49-F238E27FC236}">
                <a16:creationId xmlns:a16="http://schemas.microsoft.com/office/drawing/2014/main" id="{7F5BAF99-42C2-43E7-B128-11B49259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34025"/>
            <a:ext cx="738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밀림과 번짐을 동시에 줄였습니다.</a:t>
            </a:r>
          </a:p>
        </p:txBody>
      </p:sp>
      <p:sp>
        <p:nvSpPr>
          <p:cNvPr id="44" name="bottom-line-0">
            <a:extLst xmlns:a="http://schemas.openxmlformats.org/drawingml/2006/main">
              <a:ext uri="{FF2B5EF4-FFF2-40B4-BE49-F238E27FC236}">
                <a16:creationId xmlns:a16="http://schemas.microsoft.com/office/drawing/2014/main" id="{EA37523F-FE12-4D95-A81D-6FFF96C6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45" name="bottom-icon-1">
            <a:extLst xmlns:a="http://schemas.openxmlformats.org/drawingml/2006/main">
              <a:ext uri="{FF2B5EF4-FFF2-40B4-BE49-F238E27FC236}">
                <a16:creationId xmlns:a16="http://schemas.microsoft.com/office/drawing/2014/main" id="{C8AA4DBA-1C43-4646-9EAC-5947FAC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ttom-symbol-1">
            <a:extLst xmlns:a="http://schemas.openxmlformats.org/drawingml/2006/main">
              <a:ext uri="{FF2B5EF4-FFF2-40B4-BE49-F238E27FC236}">
                <a16:creationId xmlns:a16="http://schemas.microsoft.com/office/drawing/2014/main" id="{8CCBEAA6-B702-4447-9066-109A236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</a:p>
        </p:txBody>
      </p:sp>
      <p:sp>
        <p:nvSpPr>
          <p:cNvPr id="47" name="bottom-title-1">
            <a:extLst xmlns:a="http://schemas.openxmlformats.org/drawingml/2006/main">
              <a:ext uri="{FF2B5EF4-FFF2-40B4-BE49-F238E27FC236}">
                <a16:creationId xmlns:a16="http://schemas.microsoft.com/office/drawing/2014/main" id="{63921B5C-0BD4-4D88-9E53-6A5C9C3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34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원본 명암 보존</a:t>
            </a:r>
          </a:p>
        </p:txBody>
      </p:sp>
      <p:sp>
        <p:nvSpPr>
          <p:cNvPr id="48" name="bottom-v-1">
            <a:extLst xmlns:a="http://schemas.openxmlformats.org/drawingml/2006/main">
              <a:ext uri="{FF2B5EF4-FFF2-40B4-BE49-F238E27FC236}">
                <a16:creationId xmlns:a16="http://schemas.microsoft.com/office/drawing/2014/main" id="{1F99A8EC-F73F-41B1-B831-A37D0D3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055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DAD8"/>
            </a:solidFill>
            <a:prstDash val="solid"/>
          </a:ln>
        </p:spPr>
      </p:sp>
      <p:sp>
        <p:nvSpPr>
          <p:cNvPr id="49" name="bottom-body-1">
            <a:extLst xmlns:a="http://schemas.openxmlformats.org/drawingml/2006/main">
              <a:ext uri="{FF2B5EF4-FFF2-40B4-BE49-F238E27FC236}">
                <a16:creationId xmlns:a16="http://schemas.microsoft.com/office/drawing/2014/main" id="{5E128185-CBD9-4EFF-91A5-DFC2510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43625"/>
            <a:ext cx="738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밝기·주름·광택을 선택한 립 컬러에 반영했습니다.</a:t>
            </a:r>
          </a:p>
        </p:txBody>
      </p:sp>
      <p:sp>
        <p:nvSpPr>
          <p:cNvPr id="50" name="bottom-line-1">
            <a:extLst xmlns:a="http://schemas.openxmlformats.org/drawingml/2006/main">
              <a:ext uri="{FF2B5EF4-FFF2-40B4-BE49-F238E27FC236}">
                <a16:creationId xmlns:a16="http://schemas.microsoft.com/office/drawing/2014/main" id="{1B0656F7-5D80-406A-8DBA-90F118C1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E3E2"/>
            </a:solidFill>
            <a:prstDash val="solid"/>
          </a:ln>
        </p:spPr>
      </p:sp>
      <p:sp>
        <p:nvSpPr>
          <p:cNvPr id="51" name="page-2">
            <a:extLst xmlns:a="http://schemas.openxmlformats.org/drawingml/2006/main">
              <a:ext uri="{FF2B5EF4-FFF2-40B4-BE49-F238E27FC236}">
                <a16:creationId xmlns:a16="http://schemas.microsoft.com/office/drawing/2014/main" id="{096FE379-B46C-4D63-9DE6-2205BDC1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63892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A8088"/>
                </a:solidFill>
                <a:latin typeface="Apple SD Gothic Neo"/>
                <a:ea typeface="Apple SD Gothic Neo"/>
                <a:cs typeface="Apple SD Gothic Neo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396893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2026-07-24T16:40:22.0440000Z</dcterms:created>
  <dcterms:modified xsi:type="dcterms:W3CDTF">2026-07-24T16:40:22.0440000Z</dcterms:modified>
</coreProperties>
</file>